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github.com/se22ba/Curso-Python" TargetMode="External"/><Relationship Id="rId1" Type="http://schemas.openxmlformats.org/officeDocument/2006/relationships/image" Target="../media/image-3-1.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blog-mapa-del-delito-comunitario.onrender.com/incidentes/" TargetMode="External"/><Relationship Id="rId1" Type="http://schemas.openxmlformats.org/officeDocument/2006/relationships/image" Target="../media/image-12-1.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7452360" y="2331720"/>
            <a:ext cx="1005840" cy="1005840"/>
          </a:xfrm>
          <a:prstGeom prst="ellipse">
            <a:avLst/>
          </a:prstGeom>
          <a:solidFill>
            <a:srgbClr val="E8A33D">
              <a:alpha val="30000"/>
            </a:srgbClr>
          </a:solidFill>
          <a:ln/>
        </p:spPr>
      </p:sp>
      <p:sp>
        <p:nvSpPr>
          <p:cNvPr id="3" name="Shape 1"/>
          <p:cNvSpPr/>
          <p:nvPr/>
        </p:nvSpPr>
        <p:spPr>
          <a:xfrm>
            <a:off x="6949440" y="1828800"/>
            <a:ext cx="2011680" cy="2011680"/>
          </a:xfrm>
          <a:prstGeom prst="ellipse">
            <a:avLst/>
          </a:prstGeom>
          <a:solidFill>
            <a:srgbClr val="E8A33D">
              <a:alpha val="25000"/>
            </a:srgbClr>
          </a:solidFill>
          <a:ln/>
        </p:spPr>
      </p:sp>
      <p:sp>
        <p:nvSpPr>
          <p:cNvPr id="4" name="Shape 2"/>
          <p:cNvSpPr/>
          <p:nvPr/>
        </p:nvSpPr>
        <p:spPr>
          <a:xfrm>
            <a:off x="6446520" y="1325880"/>
            <a:ext cx="3017520" cy="3017520"/>
          </a:xfrm>
          <a:prstGeom prst="ellipse">
            <a:avLst/>
          </a:prstGeom>
          <a:solidFill>
            <a:srgbClr val="E8A33D">
              <a:alpha val="20000"/>
            </a:srgbClr>
          </a:solidFill>
          <a:ln/>
        </p:spPr>
      </p:sp>
      <p:sp>
        <p:nvSpPr>
          <p:cNvPr id="5" name="Shape 3"/>
          <p:cNvSpPr/>
          <p:nvPr/>
        </p:nvSpPr>
        <p:spPr>
          <a:xfrm>
            <a:off x="5943600" y="822960"/>
            <a:ext cx="4023360" cy="4023360"/>
          </a:xfrm>
          <a:prstGeom prst="ellipse">
            <a:avLst/>
          </a:prstGeom>
          <a:solidFill>
            <a:srgbClr val="E8A33D">
              <a:alpha val="15000"/>
            </a:srgbClr>
          </a:solidFill>
          <a:ln/>
        </p:spPr>
      </p:sp>
      <p:sp>
        <p:nvSpPr>
          <p:cNvPr id="6" name="Shape 4"/>
          <p:cNvSpPr/>
          <p:nvPr/>
        </p:nvSpPr>
        <p:spPr>
          <a:xfrm>
            <a:off x="5440680" y="320040"/>
            <a:ext cx="5029200" cy="5029200"/>
          </a:xfrm>
          <a:prstGeom prst="ellipse">
            <a:avLst/>
          </a:prstGeom>
          <a:solidFill>
            <a:srgbClr val="E8A33D">
              <a:alpha val="10000"/>
            </a:srgbClr>
          </a:solidFill>
          <a:ln/>
        </p:spPr>
      </p:sp>
      <p:sp>
        <p:nvSpPr>
          <p:cNvPr id="7" name="Shape 5"/>
          <p:cNvSpPr/>
          <p:nvPr/>
        </p:nvSpPr>
        <p:spPr>
          <a:xfrm>
            <a:off x="7635240" y="2514600"/>
            <a:ext cx="640080" cy="640080"/>
          </a:xfrm>
          <a:prstGeom prst="ellipse">
            <a:avLst/>
          </a:prstGeom>
          <a:solidFill>
            <a:srgbClr val="1C1F26"/>
          </a:solidFill>
          <a:ln/>
        </p:spPr>
      </p:sp>
      <p:pic>
        <p:nvPicPr>
          <p:cNvPr id="8" name="Image 0" descr="preencoded.png">    </p:cNvPr>
          <p:cNvPicPr>
            <a:picLocks noChangeAspect="1"/>
          </p:cNvPicPr>
          <p:nvPr/>
        </p:nvPicPr>
        <p:blipFill>
          <a:blip r:embed="rId1"/>
          <a:stretch>
            <a:fillRect/>
          </a:stretch>
        </p:blipFill>
        <p:spPr>
          <a:xfrm>
            <a:off x="7801661" y="2681021"/>
            <a:ext cx="307238" cy="307238"/>
          </a:xfrm>
          <a:prstGeom prst="rect">
            <a:avLst/>
          </a:prstGeom>
        </p:spPr>
      </p:pic>
      <p:sp>
        <p:nvSpPr>
          <p:cNvPr id="9" name="Text 6"/>
          <p:cNvSpPr/>
          <p:nvPr/>
        </p:nvSpPr>
        <p:spPr>
          <a:xfrm>
            <a:off x="640080" y="1371600"/>
            <a:ext cx="8229600" cy="365760"/>
          </a:xfrm>
          <a:prstGeom prst="rect">
            <a:avLst/>
          </a:prstGeom>
          <a:noFill/>
          <a:ln/>
        </p:spPr>
        <p:txBody>
          <a:bodyPr wrap="square" rtlCol="0" anchor="ctr"/>
          <a:lstStyle/>
          <a:p>
            <a:pPr indent="0" marL="0">
              <a:buNone/>
            </a:pPr>
            <a:r>
              <a:rPr lang="en-US" sz="1300" spc="200" kern="0" dirty="0">
                <a:solidFill>
                  <a:srgbClr val="E8A33D"/>
                </a:solidFill>
                <a:latin typeface="Courier New" pitchFamily="34" charset="0"/>
                <a:ea typeface="Courier New" pitchFamily="34" charset="-122"/>
                <a:cs typeface="Courier New" pitchFamily="34" charset="-120"/>
              </a:rPr>
              <a:t>PROYECTO FINAL — DESARROLLO WEB CON DJANGO</a:t>
            </a:r>
            <a:endParaRPr lang="en-US" sz="1300" dirty="0"/>
          </a:p>
        </p:txBody>
      </p:sp>
      <p:sp>
        <p:nvSpPr>
          <p:cNvPr id="10" name="Text 7"/>
          <p:cNvSpPr/>
          <p:nvPr/>
        </p:nvSpPr>
        <p:spPr>
          <a:xfrm>
            <a:off x="594360" y="1828800"/>
            <a:ext cx="8686800" cy="1188720"/>
          </a:xfrm>
          <a:prstGeom prst="rect">
            <a:avLst/>
          </a:prstGeom>
          <a:noFill/>
          <a:ln/>
        </p:spPr>
        <p:txBody>
          <a:bodyPr wrap="square" lIns="0" tIns="0" rIns="0" bIns="0" rtlCol="0" anchor="ctr"/>
          <a:lstStyle/>
          <a:p>
            <a:pPr indent="0" marL="0">
              <a:buNone/>
            </a:pPr>
            <a:r>
              <a:rPr lang="en-US" sz="5400" b="1" dirty="0">
                <a:solidFill>
                  <a:srgbClr val="E8E6E1"/>
                </a:solidFill>
                <a:latin typeface="Cambria" pitchFamily="34" charset="0"/>
                <a:ea typeface="Cambria" pitchFamily="34" charset="-122"/>
                <a:cs typeface="Cambria" pitchFamily="34" charset="-120"/>
              </a:rPr>
              <a:t>Mapa Vecinal</a:t>
            </a:r>
            <a:endParaRPr lang="en-US" sz="5400" dirty="0"/>
          </a:p>
        </p:txBody>
      </p:sp>
      <p:sp>
        <p:nvSpPr>
          <p:cNvPr id="11" name="Text 8"/>
          <p:cNvSpPr/>
          <p:nvPr/>
        </p:nvSpPr>
        <p:spPr>
          <a:xfrm>
            <a:off x="640080" y="2971800"/>
            <a:ext cx="8046720" cy="548640"/>
          </a:xfrm>
          <a:prstGeom prst="rect">
            <a:avLst/>
          </a:prstGeom>
          <a:noFill/>
          <a:ln/>
        </p:spPr>
        <p:txBody>
          <a:bodyPr wrap="square" rtlCol="0" anchor="ctr"/>
          <a:lstStyle/>
          <a:p>
            <a:pPr indent="0" marL="0">
              <a:buNone/>
            </a:pPr>
            <a:r>
              <a:rPr lang="en-US" sz="1800" dirty="0">
                <a:solidFill>
                  <a:srgbClr val="9A9DA6"/>
                </a:solidFill>
                <a:latin typeface="Calibri" pitchFamily="34" charset="0"/>
                <a:ea typeface="Calibri" pitchFamily="34" charset="-122"/>
                <a:cs typeface="Calibri" pitchFamily="34" charset="-120"/>
              </a:rPr>
              <a:t>Blog comunitario de seguridad vecinal con mapa interactivo</a:t>
            </a:r>
            <a:endParaRPr lang="en-US" sz="1800" dirty="0"/>
          </a:p>
        </p:txBody>
      </p:sp>
      <p:sp>
        <p:nvSpPr>
          <p:cNvPr id="12" name="Shape 9"/>
          <p:cNvSpPr/>
          <p:nvPr/>
        </p:nvSpPr>
        <p:spPr>
          <a:xfrm>
            <a:off x="640080" y="4434840"/>
            <a:ext cx="457200" cy="27432"/>
          </a:xfrm>
          <a:prstGeom prst="rect">
            <a:avLst/>
          </a:prstGeom>
          <a:solidFill>
            <a:srgbClr val="33363E"/>
          </a:solidFill>
          <a:ln/>
        </p:spPr>
      </p:sp>
      <p:sp>
        <p:nvSpPr>
          <p:cNvPr id="13" name="Text 10"/>
          <p:cNvSpPr/>
          <p:nvPr/>
        </p:nvSpPr>
        <p:spPr>
          <a:xfrm>
            <a:off x="640080" y="4572000"/>
            <a:ext cx="5486400" cy="365760"/>
          </a:xfrm>
          <a:prstGeom prst="rect">
            <a:avLst/>
          </a:prstGeom>
          <a:noFill/>
          <a:ln/>
        </p:spPr>
        <p:txBody>
          <a:bodyPr wrap="square" rtlCol="0" anchor="ctr"/>
          <a:lstStyle/>
          <a:p>
            <a:pPr indent="0" marL="0">
              <a:buNone/>
            </a:pPr>
            <a:r>
              <a:rPr lang="en-US" sz="1500" b="1" dirty="0">
                <a:solidFill>
                  <a:srgbClr val="E8E6E1"/>
                </a:solidFill>
                <a:latin typeface="Calibri" pitchFamily="34" charset="0"/>
                <a:ea typeface="Calibri" pitchFamily="34" charset="-122"/>
                <a:cs typeface="Calibri" pitchFamily="34" charset="-120"/>
              </a:rPr>
              <a:t>Leonardo Sebastian Pafundi</a:t>
            </a:r>
            <a:endParaRPr lang="en-US" sz="1500" dirty="0"/>
          </a:p>
        </p:txBody>
      </p:sp>
      <p:sp>
        <p:nvSpPr>
          <p:cNvPr id="14" name="Text 11"/>
          <p:cNvSpPr/>
          <p:nvPr/>
        </p:nvSpPr>
        <p:spPr>
          <a:xfrm>
            <a:off x="640080" y="4937760"/>
            <a:ext cx="5486400" cy="320040"/>
          </a:xfrm>
          <a:prstGeom prst="rect">
            <a:avLst/>
          </a:prstGeom>
          <a:noFill/>
          <a:ln/>
        </p:spPr>
        <p:txBody>
          <a:bodyPr wrap="square" rtlCol="0" anchor="ctr"/>
          <a:lstStyle/>
          <a:p>
            <a:pPr indent="0" marL="0">
              <a:buNone/>
            </a:pPr>
            <a:r>
              <a:rPr lang="en-US" sz="1300" dirty="0">
                <a:solidFill>
                  <a:srgbClr val="9A9DA6"/>
                </a:solidFill>
                <a:latin typeface="Calibri" pitchFamily="34" charset="0"/>
                <a:ea typeface="Calibri" pitchFamily="34" charset="-122"/>
                <a:cs typeface="Calibri" pitchFamily="34" charset="-120"/>
              </a:rPr>
              <a:t>CoderHouse — Curso Python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Descripción del proyecto</a:t>
            </a:r>
            <a:endParaRPr lang="en-US" sz="3000" dirty="0"/>
          </a:p>
        </p:txBody>
      </p:sp>
      <p:sp>
        <p:nvSpPr>
          <p:cNvPr id="3" name="Text 1"/>
          <p:cNvSpPr/>
          <p:nvPr/>
        </p:nvSpPr>
        <p:spPr>
          <a:xfrm>
            <a:off x="548640" y="1371600"/>
            <a:ext cx="6675120" cy="1554480"/>
          </a:xfrm>
          <a:prstGeom prst="rect">
            <a:avLst/>
          </a:prstGeom>
          <a:noFill/>
          <a:ln/>
        </p:spPr>
        <p:txBody>
          <a:bodyPr wrap="square" rtlCol="0" anchor="ctr"/>
          <a:lstStyle/>
          <a:p>
            <a:pPr indent="0" marL="0">
              <a:lnSpc>
                <a:spcPct val="125000"/>
              </a:lnSpc>
              <a:buNone/>
            </a:pPr>
            <a:r>
              <a:rPr lang="en-US" sz="1400" dirty="0">
                <a:solidFill>
                  <a:srgbClr val="E8E6E1"/>
                </a:solidFill>
                <a:latin typeface="Calibri" pitchFamily="34" charset="0"/>
                <a:ea typeface="Calibri" pitchFamily="34" charset="-122"/>
                <a:cs typeface="Calibri" pitchFamily="34" charset="-120"/>
              </a:rPr>
              <a:t>Mapa Vecinal es un blog comunitario donde cada entrada es el reporte de un incidente de seguridad (robo, hurto, vandalismo, actividad sospechosa), geolocalizado en un mapa interactivo. Combina la estructura clásica de un blog —título, cuerpo, categoría, fecha y autor— con una capa de visualización geográfica construida con Leaflet y OpenStreetMap.</a:t>
            </a:r>
            <a:endParaRPr lang="en-US" sz="1400" dirty="0"/>
          </a:p>
        </p:txBody>
      </p:sp>
      <p:sp>
        <p:nvSpPr>
          <p:cNvPr id="4" name="Shape 2"/>
          <p:cNvSpPr/>
          <p:nvPr/>
        </p:nvSpPr>
        <p:spPr>
          <a:xfrm>
            <a:off x="548640" y="3154680"/>
            <a:ext cx="6675120" cy="713232"/>
          </a:xfrm>
          <a:prstGeom prst="rect">
            <a:avLst/>
          </a:prstGeom>
          <a:solidFill>
            <a:srgbClr val="1C1F26"/>
          </a:solidFill>
          <a:ln/>
        </p:spPr>
      </p:sp>
      <p:sp>
        <p:nvSpPr>
          <p:cNvPr id="5" name="Text 3"/>
          <p:cNvSpPr/>
          <p:nvPr/>
        </p:nvSpPr>
        <p:spPr>
          <a:xfrm>
            <a:off x="777240" y="3209544"/>
            <a:ext cx="6217920" cy="274320"/>
          </a:xfrm>
          <a:prstGeom prst="rect">
            <a:avLst/>
          </a:prstGeom>
          <a:noFill/>
          <a:ln/>
        </p:spPr>
        <p:txBody>
          <a:bodyPr wrap="square"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Problema que resuelve</a:t>
            </a:r>
            <a:endParaRPr lang="en-US" sz="1200" dirty="0"/>
          </a:p>
        </p:txBody>
      </p:sp>
      <p:sp>
        <p:nvSpPr>
          <p:cNvPr id="6" name="Text 4"/>
          <p:cNvSpPr/>
          <p:nvPr/>
        </p:nvSpPr>
        <p:spPr>
          <a:xfrm>
            <a:off x="777240" y="3465576"/>
            <a:ext cx="6217920" cy="365760"/>
          </a:xfrm>
          <a:prstGeom prst="rect">
            <a:avLst/>
          </a:prstGeom>
          <a:noFill/>
          <a:ln/>
        </p:spPr>
        <p:txBody>
          <a:bodyPr wrap="square" rtlCol="0" anchor="ctr"/>
          <a:lstStyle/>
          <a:p>
            <a:pPr indent="0" marL="0">
              <a:buNone/>
            </a:pPr>
            <a:r>
              <a:rPr lang="en-US" sz="1100" dirty="0">
                <a:solidFill>
                  <a:srgbClr val="9A9DA6"/>
                </a:solidFill>
                <a:latin typeface="Calibri" pitchFamily="34" charset="0"/>
                <a:ea typeface="Calibri" pitchFamily="34" charset="-122"/>
                <a:cs typeface="Calibri" pitchFamily="34" charset="-120"/>
              </a:rPr>
              <a:t>Los vecinos no tienen un canal simple para registrar y visualizar incidentes de seguridad de su zona de forma colaborativa.</a:t>
            </a:r>
            <a:endParaRPr lang="en-US" sz="1100" dirty="0"/>
          </a:p>
        </p:txBody>
      </p:sp>
      <p:sp>
        <p:nvSpPr>
          <p:cNvPr id="7" name="Shape 5"/>
          <p:cNvSpPr/>
          <p:nvPr/>
        </p:nvSpPr>
        <p:spPr>
          <a:xfrm>
            <a:off x="548640" y="4023360"/>
            <a:ext cx="6675120" cy="713232"/>
          </a:xfrm>
          <a:prstGeom prst="rect">
            <a:avLst/>
          </a:prstGeom>
          <a:solidFill>
            <a:srgbClr val="1C1F26"/>
          </a:solidFill>
          <a:ln/>
        </p:spPr>
      </p:sp>
      <p:sp>
        <p:nvSpPr>
          <p:cNvPr id="8" name="Text 6"/>
          <p:cNvSpPr/>
          <p:nvPr/>
        </p:nvSpPr>
        <p:spPr>
          <a:xfrm>
            <a:off x="777240" y="4078224"/>
            <a:ext cx="6217920" cy="274320"/>
          </a:xfrm>
          <a:prstGeom prst="rect">
            <a:avLst/>
          </a:prstGeom>
          <a:noFill/>
          <a:ln/>
        </p:spPr>
        <p:txBody>
          <a:bodyPr wrap="square"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Usuario objetivo</a:t>
            </a:r>
            <a:endParaRPr lang="en-US" sz="1200" dirty="0"/>
          </a:p>
        </p:txBody>
      </p:sp>
      <p:sp>
        <p:nvSpPr>
          <p:cNvPr id="9" name="Text 7"/>
          <p:cNvSpPr/>
          <p:nvPr/>
        </p:nvSpPr>
        <p:spPr>
          <a:xfrm>
            <a:off x="777240" y="4334256"/>
            <a:ext cx="6217920" cy="365760"/>
          </a:xfrm>
          <a:prstGeom prst="rect">
            <a:avLst/>
          </a:prstGeom>
          <a:noFill/>
          <a:ln/>
        </p:spPr>
        <p:txBody>
          <a:bodyPr wrap="square" rtlCol="0" anchor="ctr"/>
          <a:lstStyle/>
          <a:p>
            <a:pPr indent="0" marL="0">
              <a:buNone/>
            </a:pPr>
            <a:r>
              <a:rPr lang="en-US" sz="1100" dirty="0">
                <a:solidFill>
                  <a:srgbClr val="9A9DA6"/>
                </a:solidFill>
                <a:latin typeface="Calibri" pitchFamily="34" charset="0"/>
                <a:ea typeface="Calibri" pitchFamily="34" charset="-122"/>
                <a:cs typeface="Calibri" pitchFamily="34" charset="-120"/>
              </a:rPr>
              <a:t>Vecinos de un barrio que quieren informar o consultar incidentes cercanos a su domicilio.</a:t>
            </a:r>
            <a:endParaRPr lang="en-US" sz="1100" dirty="0"/>
          </a:p>
        </p:txBody>
      </p:sp>
      <p:sp>
        <p:nvSpPr>
          <p:cNvPr id="10" name="Shape 8"/>
          <p:cNvSpPr/>
          <p:nvPr/>
        </p:nvSpPr>
        <p:spPr>
          <a:xfrm>
            <a:off x="548640" y="4892040"/>
            <a:ext cx="6675120" cy="713232"/>
          </a:xfrm>
          <a:prstGeom prst="rect">
            <a:avLst/>
          </a:prstGeom>
          <a:solidFill>
            <a:srgbClr val="1C1F26"/>
          </a:solidFill>
          <a:ln/>
        </p:spPr>
      </p:sp>
      <p:sp>
        <p:nvSpPr>
          <p:cNvPr id="11" name="Text 9"/>
          <p:cNvSpPr/>
          <p:nvPr/>
        </p:nvSpPr>
        <p:spPr>
          <a:xfrm>
            <a:off x="777240" y="4946904"/>
            <a:ext cx="6217920" cy="274320"/>
          </a:xfrm>
          <a:prstGeom prst="rect">
            <a:avLst/>
          </a:prstGeom>
          <a:noFill/>
          <a:ln/>
        </p:spPr>
        <p:txBody>
          <a:bodyPr wrap="square" rtlCol="0" anchor="ctr"/>
          <a:lstStyle/>
          <a:p>
            <a:pPr indent="0" marL="0">
              <a:buNone/>
            </a:pPr>
            <a:r>
              <a:rPr lang="en-US" sz="1200" b="1" dirty="0">
                <a:solidFill>
                  <a:srgbClr val="E8A33D"/>
                </a:solidFill>
                <a:latin typeface="Calibri" pitchFamily="34" charset="0"/>
                <a:ea typeface="Calibri" pitchFamily="34" charset="-122"/>
                <a:cs typeface="Calibri" pitchFamily="34" charset="-120"/>
              </a:rPr>
              <a:t>Funcionalidad principal</a:t>
            </a:r>
            <a:endParaRPr lang="en-US" sz="1200" dirty="0"/>
          </a:p>
        </p:txBody>
      </p:sp>
      <p:sp>
        <p:nvSpPr>
          <p:cNvPr id="12" name="Text 10"/>
          <p:cNvSpPr/>
          <p:nvPr/>
        </p:nvSpPr>
        <p:spPr>
          <a:xfrm>
            <a:off x="777240" y="5202936"/>
            <a:ext cx="6217920" cy="365760"/>
          </a:xfrm>
          <a:prstGeom prst="rect">
            <a:avLst/>
          </a:prstGeom>
          <a:noFill/>
          <a:ln/>
        </p:spPr>
        <p:txBody>
          <a:bodyPr wrap="square" rtlCol="0" anchor="ctr"/>
          <a:lstStyle/>
          <a:p>
            <a:pPr indent="0" marL="0">
              <a:buNone/>
            </a:pPr>
            <a:r>
              <a:rPr lang="en-US" sz="1100" dirty="0">
                <a:solidFill>
                  <a:srgbClr val="9A9DA6"/>
                </a:solidFill>
                <a:latin typeface="Calibri" pitchFamily="34" charset="0"/>
                <a:ea typeface="Calibri" pitchFamily="34" charset="-122"/>
                <a:cs typeface="Calibri" pitchFamily="34" charset="-120"/>
              </a:rPr>
              <a:t>Publicar y leer entradas del blog geolocalizadas, con autenticación, perfiles y panel de administración.</a:t>
            </a:r>
            <a:endParaRPr lang="en-US" sz="1100" dirty="0"/>
          </a:p>
        </p:txBody>
      </p:sp>
      <p:sp>
        <p:nvSpPr>
          <p:cNvPr id="13" name="Shape 11"/>
          <p:cNvSpPr/>
          <p:nvPr/>
        </p:nvSpPr>
        <p:spPr>
          <a:xfrm>
            <a:off x="7589520" y="1371600"/>
            <a:ext cx="4023360" cy="4206240"/>
          </a:xfrm>
          <a:prstGeom prst="rect">
            <a:avLst/>
          </a:prstGeom>
          <a:solidFill>
            <a:srgbClr val="1C1F26"/>
          </a:solidFill>
          <a:ln/>
        </p:spPr>
      </p:sp>
      <p:sp>
        <p:nvSpPr>
          <p:cNvPr id="14" name="Text 12"/>
          <p:cNvSpPr/>
          <p:nvPr/>
        </p:nvSpPr>
        <p:spPr>
          <a:xfrm>
            <a:off x="7818120" y="1554480"/>
            <a:ext cx="356616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Funcionalidades implementadas</a:t>
            </a:r>
            <a:endParaRPr lang="en-US" sz="1300" dirty="0"/>
          </a:p>
        </p:txBody>
      </p:sp>
      <p:sp>
        <p:nvSpPr>
          <p:cNvPr id="15" name="Text 13"/>
          <p:cNvSpPr/>
          <p:nvPr/>
        </p:nvSpPr>
        <p:spPr>
          <a:xfrm>
            <a:off x="7818120" y="1965960"/>
            <a:ext cx="3566160" cy="3474720"/>
          </a:xfrm>
          <a:prstGeom prst="rect">
            <a:avLst/>
          </a:prstGeom>
          <a:noFill/>
          <a:ln/>
        </p:spPr>
        <p:txBody>
          <a:bodyPr wrap="square" rtlCol="0" anchor="ctr"/>
          <a:lstStyle/>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Panel de administración</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Registro, login y logout</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Perfil de usuario editable</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Blog público con mapa interactivo</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Búsqueda dinámica por categoría</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Formularios con validación</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Permisos por autoría de contenido</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Protección anti-spam (límites + reportes)</a:t>
            </a:r>
            <a:endParaRPr lang="en-US" sz="1200" dirty="0"/>
          </a:p>
          <a:p>
            <a:pPr marL="342900" indent="-342900">
              <a:spcAft>
                <a:spcPts val="1000"/>
              </a:spcAft>
              <a:buSzPct val="100000"/>
              <a:buChar char="•"/>
            </a:pPr>
            <a:r>
              <a:rPr lang="en-US" sz="1200" dirty="0">
                <a:solidFill>
                  <a:srgbClr val="E8E6E1"/>
                </a:solidFill>
                <a:latin typeface="Calibri" pitchFamily="34" charset="0"/>
                <a:ea typeface="Calibri" pitchFamily="34" charset="-122"/>
                <a:cs typeface="Calibri" pitchFamily="34" charset="-120"/>
              </a:rPr>
              <a:t>Despliegue con URL pública</a:t>
            </a:r>
            <a:endParaRPr lang="en-US" sz="1200" dirty="0"/>
          </a:p>
        </p:txBody>
      </p:sp>
      <p:sp>
        <p:nvSpPr>
          <p:cNvPr id="16" name="Text 14"/>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Repositorio del proyecto</a:t>
            </a:r>
            <a:endParaRPr lang="en-US" sz="3000" dirty="0"/>
          </a:p>
        </p:txBody>
      </p:sp>
      <p:sp>
        <p:nvSpPr>
          <p:cNvPr id="3" name="Shape 1"/>
          <p:cNvSpPr/>
          <p:nvPr/>
        </p:nvSpPr>
        <p:spPr>
          <a:xfrm>
            <a:off x="548640" y="1645920"/>
            <a:ext cx="11064240" cy="2377440"/>
          </a:xfrm>
          <a:prstGeom prst="rect">
            <a:avLst/>
          </a:prstGeom>
          <a:solidFill>
            <a:srgbClr val="1C1F26"/>
          </a:solidFill>
          <a:ln/>
        </p:spPr>
      </p:sp>
      <p:sp>
        <p:nvSpPr>
          <p:cNvPr id="4" name="Shape 2"/>
          <p:cNvSpPr/>
          <p:nvPr/>
        </p:nvSpPr>
        <p:spPr>
          <a:xfrm>
            <a:off x="914400" y="2011680"/>
            <a:ext cx="914400" cy="914400"/>
          </a:xfrm>
          <a:prstGeom prst="ellipse">
            <a:avLst/>
          </a:prstGeom>
          <a:solidFill>
            <a:srgbClr val="232730"/>
          </a:solidFill>
          <a:ln/>
        </p:spPr>
      </p:sp>
      <p:pic>
        <p:nvPicPr>
          <p:cNvPr id="5" name="Image 0" descr="preencoded.png">    </p:cNvPr>
          <p:cNvPicPr>
            <a:picLocks noChangeAspect="1"/>
          </p:cNvPicPr>
          <p:nvPr/>
        </p:nvPicPr>
        <p:blipFill>
          <a:blip r:embed="rId1"/>
          <a:stretch>
            <a:fillRect/>
          </a:stretch>
        </p:blipFill>
        <p:spPr>
          <a:xfrm>
            <a:off x="1152144" y="2249424"/>
            <a:ext cx="438912" cy="438912"/>
          </a:xfrm>
          <a:prstGeom prst="rect">
            <a:avLst/>
          </a:prstGeom>
        </p:spPr>
      </p:pic>
      <p:sp>
        <p:nvSpPr>
          <p:cNvPr id="6" name="Text 3"/>
          <p:cNvSpPr/>
          <p:nvPr/>
        </p:nvSpPr>
        <p:spPr>
          <a:xfrm>
            <a:off x="2194560" y="1965960"/>
            <a:ext cx="8961120" cy="411480"/>
          </a:xfrm>
          <a:prstGeom prst="rect">
            <a:avLst/>
          </a:prstGeom>
          <a:noFill/>
          <a:ln/>
        </p:spPr>
        <p:txBody>
          <a:bodyPr wrap="square" rtlCol="0" anchor="ctr"/>
          <a:lstStyle/>
          <a:p>
            <a:pPr indent="0" marL="0">
              <a:buNone/>
            </a:pPr>
            <a:r>
              <a:rPr lang="en-US" sz="1600" b="1" dirty="0">
                <a:solidFill>
                  <a:srgbClr val="E8E6E1"/>
                </a:solidFill>
                <a:latin typeface="Calibri" pitchFamily="34" charset="0"/>
                <a:ea typeface="Calibri" pitchFamily="34" charset="-122"/>
                <a:cs typeface="Calibri" pitchFamily="34" charset="-120"/>
              </a:rPr>
              <a:t>Código fuente completo en GitHub</a:t>
            </a:r>
            <a:endParaRPr lang="en-US" sz="1600" dirty="0"/>
          </a:p>
        </p:txBody>
      </p:sp>
      <p:sp>
        <p:nvSpPr>
          <p:cNvPr id="7" name="Text 4"/>
          <p:cNvSpPr/>
          <p:nvPr/>
        </p:nvSpPr>
        <p:spPr>
          <a:xfrm>
            <a:off x="2194560" y="2423160"/>
            <a:ext cx="8961120" cy="640080"/>
          </a:xfrm>
          <a:prstGeom prst="rect">
            <a:avLst/>
          </a:prstGeom>
          <a:noFill/>
          <a:ln/>
        </p:spPr>
        <p:txBody>
          <a:bodyPr wrap="square" rtlCol="0" anchor="ctr"/>
          <a:lstStyle/>
          <a:p>
            <a:pPr indent="0" marL="0">
              <a:lnSpc>
                <a:spcPct val="120000"/>
              </a:lnSpc>
              <a:buNone/>
            </a:pPr>
            <a:r>
              <a:rPr lang="en-US" sz="1250" dirty="0">
                <a:solidFill>
                  <a:srgbClr val="9A9DA6"/>
                </a:solidFill>
                <a:latin typeface="Calibri" pitchFamily="34" charset="0"/>
                <a:ea typeface="Calibri" pitchFamily="34" charset="-122"/>
                <a:cs typeface="Calibri" pitchFamily="34" charset="-120"/>
              </a:rPr>
              <a:t>Incluye el código de la aplicación, estructura organizada por apps de Django, requirements.txt con las dependencias, y un README.md con la documentación completa del proyecto.</a:t>
            </a:r>
            <a:endParaRPr lang="en-US" sz="1250" dirty="0"/>
          </a:p>
        </p:txBody>
      </p:sp>
      <p:sp>
        <p:nvSpPr>
          <p:cNvPr id="8" name="Shape 5"/>
          <p:cNvSpPr/>
          <p:nvPr/>
        </p:nvSpPr>
        <p:spPr>
          <a:xfrm>
            <a:off x="2194560" y="3200400"/>
            <a:ext cx="8595360" cy="640080"/>
          </a:xfrm>
          <a:prstGeom prst="rect">
            <a:avLst/>
          </a:prstGeom>
          <a:solidFill>
            <a:srgbClr val="232730"/>
          </a:solidFill>
          <a:ln/>
        </p:spPr>
      </p:sp>
      <p:sp>
        <p:nvSpPr>
          <p:cNvPr id="9" name="Text 6">
            <a:hlinkClick r:id="rId2" tooltip=""/>
          </p:cNvPr>
          <p:cNvSpPr/>
          <p:nvPr/>
        </p:nvSpPr>
        <p:spPr>
          <a:xfrm>
            <a:off x="2377440" y="3200400"/>
            <a:ext cx="8229600" cy="640080"/>
          </a:xfrm>
          <a:prstGeom prst="rect">
            <a:avLst/>
          </a:prstGeom>
          <a:noFill/>
          <a:ln/>
        </p:spPr>
        <p:txBody>
          <a:bodyPr wrap="square" rtlCol="0" anchor="ctr"/>
          <a:lstStyle/>
          <a:p>
            <a:pPr indent="0" marL="0">
              <a:buNone/>
            </a:pPr>
            <a:r>
              <a:rPr lang="en-US" sz="1600" u="sng" dirty="0">
                <a:solidFill>
                  <a:srgbClr val="F4B860"/>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https://github.com/se22ba/Curso-Python</a:t>
            </a:r>
            <a:endParaRPr lang="en-US" sz="1600" dirty="0"/>
          </a:p>
        </p:txBody>
      </p:sp>
      <p:sp>
        <p:nvSpPr>
          <p:cNvPr id="10" name="Text 7"/>
          <p:cNvSpPr/>
          <p:nvPr/>
        </p:nvSpPr>
        <p:spPr>
          <a:xfrm>
            <a:off x="548640" y="4297680"/>
            <a:ext cx="11064240" cy="365760"/>
          </a:xfrm>
          <a:prstGeom prst="rect">
            <a:avLst/>
          </a:prstGeom>
          <a:noFill/>
          <a:ln/>
        </p:spPr>
        <p:txBody>
          <a:bodyPr wrap="square" rtlCol="0" anchor="ctr"/>
          <a:lstStyle/>
          <a:p>
            <a:pPr algn="ctr" indent="0" marL="0">
              <a:buNone/>
            </a:pPr>
            <a:r>
              <a:rPr lang="en-US" sz="1200" i="1" dirty="0">
                <a:solidFill>
                  <a:srgbClr val="9A9DA6"/>
                </a:solidFill>
                <a:latin typeface="Calibri" pitchFamily="34" charset="0"/>
                <a:ea typeface="Calibri" pitchFamily="34" charset="-122"/>
                <a:cs typeface="Calibri" pitchFamily="34" charset="-120"/>
              </a:rPr>
              <a:t>El repositorio es público y puede clonarse directamente con git clone.</a:t>
            </a:r>
            <a:endParaRPr lang="en-US" sz="1200" dirty="0"/>
          </a:p>
        </p:txBody>
      </p:sp>
      <p:sp>
        <p:nvSpPr>
          <p:cNvPr id="11"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Arquitectura y stack técnico</a:t>
            </a:r>
            <a:endParaRPr lang="en-US" sz="3000" dirty="0"/>
          </a:p>
        </p:txBody>
      </p:sp>
      <p:sp>
        <p:nvSpPr>
          <p:cNvPr id="3" name="Shape 1"/>
          <p:cNvSpPr/>
          <p:nvPr/>
        </p:nvSpPr>
        <p:spPr>
          <a:xfrm>
            <a:off x="548640" y="1463040"/>
            <a:ext cx="3566160" cy="1828800"/>
          </a:xfrm>
          <a:prstGeom prst="rect">
            <a:avLst/>
          </a:prstGeom>
          <a:solidFill>
            <a:srgbClr val="1C1F26"/>
          </a:solidFill>
          <a:ln/>
        </p:spPr>
      </p:sp>
      <p:sp>
        <p:nvSpPr>
          <p:cNvPr id="4" name="Text 2"/>
          <p:cNvSpPr/>
          <p:nvPr/>
        </p:nvSpPr>
        <p:spPr>
          <a:xfrm>
            <a:off x="777240" y="1600200"/>
            <a:ext cx="3108960" cy="365760"/>
          </a:xfrm>
          <a:prstGeom prst="rect">
            <a:avLst/>
          </a:prstGeom>
          <a:noFill/>
          <a:ln/>
        </p:spPr>
        <p:txBody>
          <a:bodyPr wrap="square" rtlCol="0" anchor="ctr"/>
          <a:lstStyle/>
          <a:p>
            <a:pPr indent="0" marL="0">
              <a:buNone/>
            </a:pPr>
            <a:r>
              <a:rPr lang="en-US" sz="1400" b="1" dirty="0">
                <a:solidFill>
                  <a:srgbClr val="E8A33D"/>
                </a:solidFill>
                <a:latin typeface="Courier New" pitchFamily="34" charset="0"/>
                <a:ea typeface="Courier New" pitchFamily="34" charset="-122"/>
                <a:cs typeface="Courier New" pitchFamily="34" charset="-120"/>
              </a:rPr>
              <a:t>incidentes</a:t>
            </a:r>
            <a:endParaRPr lang="en-US" sz="1400" dirty="0"/>
          </a:p>
        </p:txBody>
      </p:sp>
      <p:sp>
        <p:nvSpPr>
          <p:cNvPr id="5" name="Text 3"/>
          <p:cNvSpPr/>
          <p:nvPr/>
        </p:nvSpPr>
        <p:spPr>
          <a:xfrm>
            <a:off x="777240" y="2011680"/>
            <a:ext cx="3108960" cy="1188720"/>
          </a:xfrm>
          <a:prstGeom prst="rect">
            <a:avLst/>
          </a:prstGeom>
          <a:noFill/>
          <a:ln/>
        </p:spPr>
        <p:txBody>
          <a:bodyPr wrap="square" rtlCol="0" anchor="ctr"/>
          <a:lstStyle/>
          <a:p>
            <a:pPr indent="0" marL="0">
              <a:lnSpc>
                <a:spcPct val="120000"/>
              </a:lnSpc>
              <a:buNone/>
            </a:pPr>
            <a:r>
              <a:rPr lang="en-US" sz="1150" dirty="0">
                <a:solidFill>
                  <a:srgbClr val="9A9DA6"/>
                </a:solidFill>
                <a:latin typeface="Calibri" pitchFamily="34" charset="0"/>
                <a:ea typeface="Calibri" pitchFamily="34" charset="-122"/>
                <a:cs typeface="Calibri" pitchFamily="34" charset="-120"/>
              </a:rPr>
              <a:t>Entradas del blog: modelo, vistas CRUD, formularios, mapa interactivo y búsqueda dinámica.</a:t>
            </a:r>
            <a:endParaRPr lang="en-US" sz="1150" dirty="0"/>
          </a:p>
        </p:txBody>
      </p:sp>
      <p:sp>
        <p:nvSpPr>
          <p:cNvPr id="6" name="Shape 4"/>
          <p:cNvSpPr/>
          <p:nvPr/>
        </p:nvSpPr>
        <p:spPr>
          <a:xfrm>
            <a:off x="4343400" y="1463040"/>
            <a:ext cx="3566160" cy="1828800"/>
          </a:xfrm>
          <a:prstGeom prst="rect">
            <a:avLst/>
          </a:prstGeom>
          <a:solidFill>
            <a:srgbClr val="1C1F26"/>
          </a:solidFill>
          <a:ln/>
        </p:spPr>
      </p:sp>
      <p:sp>
        <p:nvSpPr>
          <p:cNvPr id="7" name="Text 5"/>
          <p:cNvSpPr/>
          <p:nvPr/>
        </p:nvSpPr>
        <p:spPr>
          <a:xfrm>
            <a:off x="4572000" y="1600200"/>
            <a:ext cx="3108960" cy="365760"/>
          </a:xfrm>
          <a:prstGeom prst="rect">
            <a:avLst/>
          </a:prstGeom>
          <a:noFill/>
          <a:ln/>
        </p:spPr>
        <p:txBody>
          <a:bodyPr wrap="square" rtlCol="0" anchor="ctr"/>
          <a:lstStyle/>
          <a:p>
            <a:pPr indent="0" marL="0">
              <a:buNone/>
            </a:pPr>
            <a:r>
              <a:rPr lang="en-US" sz="1400" b="1" dirty="0">
                <a:solidFill>
                  <a:srgbClr val="E8A33D"/>
                </a:solidFill>
                <a:latin typeface="Courier New" pitchFamily="34" charset="0"/>
                <a:ea typeface="Courier New" pitchFamily="34" charset="-122"/>
                <a:cs typeface="Courier New" pitchFamily="34" charset="-120"/>
              </a:rPr>
              <a:t>usuarios</a:t>
            </a:r>
            <a:endParaRPr lang="en-US" sz="1400" dirty="0"/>
          </a:p>
        </p:txBody>
      </p:sp>
      <p:sp>
        <p:nvSpPr>
          <p:cNvPr id="8" name="Text 6"/>
          <p:cNvSpPr/>
          <p:nvPr/>
        </p:nvSpPr>
        <p:spPr>
          <a:xfrm>
            <a:off x="4572000" y="2011680"/>
            <a:ext cx="3108960" cy="1188720"/>
          </a:xfrm>
          <a:prstGeom prst="rect">
            <a:avLst/>
          </a:prstGeom>
          <a:noFill/>
          <a:ln/>
        </p:spPr>
        <p:txBody>
          <a:bodyPr wrap="square" rtlCol="0" anchor="ctr"/>
          <a:lstStyle/>
          <a:p>
            <a:pPr indent="0" marL="0">
              <a:lnSpc>
                <a:spcPct val="120000"/>
              </a:lnSpc>
              <a:buNone/>
            </a:pPr>
            <a:r>
              <a:rPr lang="en-US" sz="1150" dirty="0">
                <a:solidFill>
                  <a:srgbClr val="9A9DA6"/>
                </a:solidFill>
                <a:latin typeface="Calibri" pitchFamily="34" charset="0"/>
                <a:ea typeface="Calibri" pitchFamily="34" charset="-122"/>
                <a:cs typeface="Calibri" pitchFamily="34" charset="-120"/>
              </a:rPr>
              <a:t>Registro, login, logout y perfil de usuario editable (con creación automática vía signal).</a:t>
            </a:r>
            <a:endParaRPr lang="en-US" sz="1150" dirty="0"/>
          </a:p>
        </p:txBody>
      </p:sp>
      <p:sp>
        <p:nvSpPr>
          <p:cNvPr id="9" name="Shape 7"/>
          <p:cNvSpPr/>
          <p:nvPr/>
        </p:nvSpPr>
        <p:spPr>
          <a:xfrm>
            <a:off x="8138160" y="1463040"/>
            <a:ext cx="3566160" cy="1828800"/>
          </a:xfrm>
          <a:prstGeom prst="rect">
            <a:avLst/>
          </a:prstGeom>
          <a:solidFill>
            <a:srgbClr val="1C1F26"/>
          </a:solidFill>
          <a:ln/>
        </p:spPr>
      </p:sp>
      <p:sp>
        <p:nvSpPr>
          <p:cNvPr id="10" name="Text 8"/>
          <p:cNvSpPr/>
          <p:nvPr/>
        </p:nvSpPr>
        <p:spPr>
          <a:xfrm>
            <a:off x="8366760" y="1600200"/>
            <a:ext cx="3108960" cy="365760"/>
          </a:xfrm>
          <a:prstGeom prst="rect">
            <a:avLst/>
          </a:prstGeom>
          <a:noFill/>
          <a:ln/>
        </p:spPr>
        <p:txBody>
          <a:bodyPr wrap="square" rtlCol="0" anchor="ctr"/>
          <a:lstStyle/>
          <a:p>
            <a:pPr indent="0" marL="0">
              <a:buNone/>
            </a:pPr>
            <a:r>
              <a:rPr lang="en-US" sz="1400" b="1" dirty="0">
                <a:solidFill>
                  <a:srgbClr val="E8A33D"/>
                </a:solidFill>
                <a:latin typeface="Courier New" pitchFamily="34" charset="0"/>
                <a:ea typeface="Courier New" pitchFamily="34" charset="-122"/>
                <a:cs typeface="Courier New" pitchFamily="34" charset="-120"/>
              </a:rPr>
              <a:t>paginas</a:t>
            </a:r>
            <a:endParaRPr lang="en-US" sz="1400" dirty="0"/>
          </a:p>
        </p:txBody>
      </p:sp>
      <p:sp>
        <p:nvSpPr>
          <p:cNvPr id="11" name="Text 9"/>
          <p:cNvSpPr/>
          <p:nvPr/>
        </p:nvSpPr>
        <p:spPr>
          <a:xfrm>
            <a:off x="8366760" y="2011680"/>
            <a:ext cx="3108960" cy="1188720"/>
          </a:xfrm>
          <a:prstGeom prst="rect">
            <a:avLst/>
          </a:prstGeom>
          <a:noFill/>
          <a:ln/>
        </p:spPr>
        <p:txBody>
          <a:bodyPr wrap="square" rtlCol="0" anchor="ctr"/>
          <a:lstStyle/>
          <a:p>
            <a:pPr indent="0" marL="0">
              <a:lnSpc>
                <a:spcPct val="120000"/>
              </a:lnSpc>
              <a:buNone/>
            </a:pPr>
            <a:r>
              <a:rPr lang="en-US" sz="1150" dirty="0">
                <a:solidFill>
                  <a:srgbClr val="9A9DA6"/>
                </a:solidFill>
                <a:latin typeface="Calibri" pitchFamily="34" charset="0"/>
                <a:ea typeface="Calibri" pitchFamily="34" charset="-122"/>
                <a:cs typeface="Calibri" pitchFamily="34" charset="-120"/>
              </a:rPr>
              <a:t>Páginas estáticas "Acerca de" y formulario de "Contacto" persistido en base de datos.</a:t>
            </a:r>
            <a:endParaRPr lang="en-US" sz="1150" dirty="0"/>
          </a:p>
        </p:txBody>
      </p:sp>
      <p:sp>
        <p:nvSpPr>
          <p:cNvPr id="12" name="Text 10"/>
          <p:cNvSpPr/>
          <p:nvPr/>
        </p:nvSpPr>
        <p:spPr>
          <a:xfrm>
            <a:off x="548640" y="3611880"/>
            <a:ext cx="457200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Tecnologías utilizadas</a:t>
            </a:r>
            <a:endParaRPr lang="en-US" sz="1300" dirty="0"/>
          </a:p>
        </p:txBody>
      </p:sp>
      <p:sp>
        <p:nvSpPr>
          <p:cNvPr id="13" name="Text 11"/>
          <p:cNvSpPr/>
          <p:nvPr/>
        </p:nvSpPr>
        <p:spPr>
          <a:xfrm>
            <a:off x="548640" y="3931920"/>
            <a:ext cx="5486400" cy="1554480"/>
          </a:xfrm>
          <a:prstGeom prst="rect">
            <a:avLst/>
          </a:prstGeom>
          <a:noFill/>
          <a:ln/>
        </p:spPr>
        <p:txBody>
          <a:bodyPr wrap="square" rtlCol="0" anchor="ctr"/>
          <a:lstStyle/>
          <a:p>
            <a:pPr marL="342900" indent="-342900">
              <a:spcAft>
                <a:spcPts val="600"/>
              </a:spcAft>
              <a:buSzPct val="100000"/>
              <a:buChar char="•"/>
            </a:pPr>
            <a:r>
              <a:rPr lang="en-US" sz="1200" dirty="0">
                <a:solidFill>
                  <a:srgbClr val="E8E6E1"/>
                </a:solidFill>
                <a:latin typeface="Calibri" pitchFamily="34" charset="0"/>
                <a:ea typeface="Calibri" pitchFamily="34" charset="-122"/>
                <a:cs typeface="Calibri" pitchFamily="34" charset="-120"/>
              </a:rPr>
              <a:t>Django 6.0 (backend y ORM)</a:t>
            </a:r>
            <a:endParaRPr lang="en-US" sz="1200" dirty="0"/>
          </a:p>
          <a:p>
            <a:pPr marL="342900" indent="-342900">
              <a:spcAft>
                <a:spcPts val="600"/>
              </a:spcAft>
              <a:buSzPct val="100000"/>
              <a:buChar char="•"/>
            </a:pPr>
            <a:r>
              <a:rPr lang="en-US" sz="1200" dirty="0">
                <a:solidFill>
                  <a:srgbClr val="E8E6E1"/>
                </a:solidFill>
                <a:latin typeface="Calibri" pitchFamily="34" charset="0"/>
                <a:ea typeface="Calibri" pitchFamily="34" charset="-122"/>
                <a:cs typeface="Calibri" pitchFamily="34" charset="-120"/>
              </a:rPr>
              <a:t>PostgreSQL en producción / SQLite en desarrollo</a:t>
            </a:r>
            <a:endParaRPr lang="en-US" sz="1200" dirty="0"/>
          </a:p>
          <a:p>
            <a:pPr marL="342900" indent="-342900">
              <a:spcAft>
                <a:spcPts val="600"/>
              </a:spcAft>
              <a:buSzPct val="100000"/>
              <a:buChar char="•"/>
            </a:pPr>
            <a:r>
              <a:rPr lang="en-US" sz="1200" dirty="0">
                <a:solidFill>
                  <a:srgbClr val="E8E6E1"/>
                </a:solidFill>
                <a:latin typeface="Calibri" pitchFamily="34" charset="0"/>
                <a:ea typeface="Calibri" pitchFamily="34" charset="-122"/>
                <a:cs typeface="Calibri" pitchFamily="34" charset="-120"/>
              </a:rPr>
              <a:t>Leaflet + OpenStreetMap (mapa interactivo)</a:t>
            </a:r>
            <a:endParaRPr lang="en-US" sz="1200" dirty="0"/>
          </a:p>
          <a:p>
            <a:pPr marL="342900" indent="-342900">
              <a:spcAft>
                <a:spcPts val="600"/>
              </a:spcAft>
              <a:buSzPct val="100000"/>
              <a:buChar char="•"/>
            </a:pPr>
            <a:r>
              <a:rPr lang="en-US" sz="1200" dirty="0">
                <a:solidFill>
                  <a:srgbClr val="E8E6E1"/>
                </a:solidFill>
                <a:latin typeface="Calibri" pitchFamily="34" charset="0"/>
                <a:ea typeface="Calibri" pitchFamily="34" charset="-122"/>
                <a:cs typeface="Calibri" pitchFamily="34" charset="-120"/>
              </a:rPr>
              <a:t>WhiteNoise (archivos estáticos) + Gunicorn</a:t>
            </a:r>
            <a:endParaRPr lang="en-US" sz="1200" dirty="0"/>
          </a:p>
          <a:p>
            <a:pPr marL="342900" indent="-342900">
              <a:spcAft>
                <a:spcPts val="600"/>
              </a:spcAft>
              <a:buSzPct val="100000"/>
              <a:buChar char="•"/>
            </a:pPr>
            <a:r>
              <a:rPr lang="en-US" sz="1200" dirty="0">
                <a:solidFill>
                  <a:srgbClr val="E8E6E1"/>
                </a:solidFill>
                <a:latin typeface="Calibri" pitchFamily="34" charset="0"/>
                <a:ea typeface="Calibri" pitchFamily="34" charset="-122"/>
                <a:cs typeface="Calibri" pitchFamily="34" charset="-120"/>
              </a:rPr>
              <a:t>python-dotenv (variables de entorno)</a:t>
            </a:r>
            <a:endParaRPr lang="en-US" sz="1200" dirty="0"/>
          </a:p>
        </p:txBody>
      </p:sp>
      <p:sp>
        <p:nvSpPr>
          <p:cNvPr id="14" name="Shape 12"/>
          <p:cNvSpPr/>
          <p:nvPr/>
        </p:nvSpPr>
        <p:spPr>
          <a:xfrm>
            <a:off x="6309360" y="3611880"/>
            <a:ext cx="5303520" cy="1874520"/>
          </a:xfrm>
          <a:prstGeom prst="rect">
            <a:avLst/>
          </a:prstGeom>
          <a:solidFill>
            <a:srgbClr val="1C1F26"/>
          </a:solidFill>
          <a:ln/>
        </p:spPr>
      </p:sp>
      <p:sp>
        <p:nvSpPr>
          <p:cNvPr id="15" name="Text 13"/>
          <p:cNvSpPr/>
          <p:nvPr/>
        </p:nvSpPr>
        <p:spPr>
          <a:xfrm>
            <a:off x="6537960" y="3749040"/>
            <a:ext cx="484632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Calidad y pruebas</a:t>
            </a:r>
            <a:endParaRPr lang="en-US" sz="1300" dirty="0"/>
          </a:p>
        </p:txBody>
      </p:sp>
      <p:sp>
        <p:nvSpPr>
          <p:cNvPr id="16" name="Text 14"/>
          <p:cNvSpPr/>
          <p:nvPr/>
        </p:nvSpPr>
        <p:spPr>
          <a:xfrm>
            <a:off x="6537960" y="4069080"/>
            <a:ext cx="1645920" cy="731520"/>
          </a:xfrm>
          <a:prstGeom prst="rect">
            <a:avLst/>
          </a:prstGeom>
          <a:noFill/>
          <a:ln/>
        </p:spPr>
        <p:txBody>
          <a:bodyPr wrap="square"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78</a:t>
            </a:r>
            <a:endParaRPr lang="en-US" sz="4000" dirty="0"/>
          </a:p>
        </p:txBody>
      </p:sp>
      <p:sp>
        <p:nvSpPr>
          <p:cNvPr id="17" name="Text 15"/>
          <p:cNvSpPr/>
          <p:nvPr/>
        </p:nvSpPr>
        <p:spPr>
          <a:xfrm>
            <a:off x="6537960" y="4709160"/>
            <a:ext cx="2194560" cy="274320"/>
          </a:xfrm>
          <a:prstGeom prst="rect">
            <a:avLst/>
          </a:prstGeom>
          <a:noFill/>
          <a:ln/>
        </p:spPr>
        <p:txBody>
          <a:bodyPr wrap="square" rtlCol="0" anchor="ctr"/>
          <a:lstStyle/>
          <a:p>
            <a:pPr indent="0" marL="0">
              <a:buNone/>
            </a:pPr>
            <a:r>
              <a:rPr lang="en-US" sz="1050" dirty="0">
                <a:solidFill>
                  <a:srgbClr val="9A9DA6"/>
                </a:solidFill>
                <a:latin typeface="Calibri" pitchFamily="34" charset="0"/>
                <a:ea typeface="Calibri" pitchFamily="34" charset="-122"/>
                <a:cs typeface="Calibri" pitchFamily="34" charset="-120"/>
              </a:rPr>
              <a:t>tests automatizados</a:t>
            </a:r>
            <a:endParaRPr lang="en-US" sz="1050" dirty="0"/>
          </a:p>
        </p:txBody>
      </p:sp>
      <p:sp>
        <p:nvSpPr>
          <p:cNvPr id="18" name="Text 16"/>
          <p:cNvSpPr/>
          <p:nvPr/>
        </p:nvSpPr>
        <p:spPr>
          <a:xfrm>
            <a:off x="8321040" y="4069080"/>
            <a:ext cx="1645920" cy="731520"/>
          </a:xfrm>
          <a:prstGeom prst="rect">
            <a:avLst/>
          </a:prstGeom>
          <a:noFill/>
          <a:ln/>
        </p:spPr>
        <p:txBody>
          <a:bodyPr wrap="square" rtlCol="0" anchor="ctr"/>
          <a:lstStyle/>
          <a:p>
            <a:pPr indent="0" marL="0">
              <a:buNone/>
            </a:pPr>
            <a:r>
              <a:rPr lang="en-US" sz="4000" b="1" dirty="0">
                <a:solidFill>
                  <a:srgbClr val="E8A33D"/>
                </a:solidFill>
                <a:latin typeface="Cambria" pitchFamily="34" charset="0"/>
                <a:ea typeface="Cambria" pitchFamily="34" charset="-122"/>
                <a:cs typeface="Cambria" pitchFamily="34" charset="-120"/>
              </a:rPr>
              <a:t>100%</a:t>
            </a:r>
            <a:endParaRPr lang="en-US" sz="4000" dirty="0"/>
          </a:p>
        </p:txBody>
      </p:sp>
      <p:sp>
        <p:nvSpPr>
          <p:cNvPr id="19" name="Text 17"/>
          <p:cNvSpPr/>
          <p:nvPr/>
        </p:nvSpPr>
        <p:spPr>
          <a:xfrm>
            <a:off x="8321040" y="4709160"/>
            <a:ext cx="2377440" cy="274320"/>
          </a:xfrm>
          <a:prstGeom prst="rect">
            <a:avLst/>
          </a:prstGeom>
          <a:noFill/>
          <a:ln/>
        </p:spPr>
        <p:txBody>
          <a:bodyPr wrap="square" rtlCol="0" anchor="ctr"/>
          <a:lstStyle/>
          <a:p>
            <a:pPr indent="0" marL="0">
              <a:buNone/>
            </a:pPr>
            <a:r>
              <a:rPr lang="en-US" sz="1050" dirty="0">
                <a:solidFill>
                  <a:srgbClr val="9A9DA6"/>
                </a:solidFill>
                <a:latin typeface="Calibri" pitchFamily="34" charset="0"/>
                <a:ea typeface="Calibri" pitchFamily="34" charset="-122"/>
                <a:cs typeface="Calibri" pitchFamily="34" charset="-120"/>
              </a:rPr>
              <a:t>cobertura de código</a:t>
            </a:r>
            <a:endParaRPr lang="en-US" sz="1050" dirty="0"/>
          </a:p>
        </p:txBody>
      </p:sp>
      <p:sp>
        <p:nvSpPr>
          <p:cNvPr id="20" name="Text 1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Panel de administración</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1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Gestión completa de entradas del blog, perfiles de usuario y mensajes de contacto desde /admin/. Permite crear, editar, filtrar y buscar contenido sin escribir código.</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1 — /admin/</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del panel de administración mostrando el listado de "Entradas del blog"</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Registro y autenticación</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2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Cualquier visitante puede crear una cuenta, iniciar sesión y cerrar sesión de forma segura. El cierre de sesión se realiza por POST para evitar vulnerabilidades CSRF.</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2 — /usuarios/registro/</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del formulario de registro de cuenta nueva</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Perfil de usuario editable</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3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Cada usuario tiene un perfil público con biografía, barrio y avatar, editable únicamente por su propietario. Se crea automáticamente al registrarse.</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3 — /usuarios/perfil/&lt;usuario&gt;/</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 un perfil de usuario con datos completados</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Blog público y mapa interactivo</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4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El listado y detalle de las entradas son accesibles sin necesidad de iniciar sesión. Cada entrada se geolocaliza en un mapa con Leaflet y OpenStreetMap.</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4 — /incidentes/</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del mapa con los marcadores de las entradas cargadas</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Formularios con validación</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5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Registro, login, contacto y publicación de entradas validan los datos ingresados: formato de email, longitud mínima de mensaje, rango de coordenadas, campos obligatorios.</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5 — /contacto/</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del formulario de contacto mostrando un mensaje de error de validación</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48640" y="502920"/>
            <a:ext cx="594360" cy="594360"/>
          </a:xfrm>
          <a:prstGeom prst="ellipse">
            <a:avLst/>
          </a:prstGeom>
          <a:solidFill>
            <a:srgbClr val="E8A33D"/>
          </a:solidFill>
          <a:ln/>
        </p:spPr>
      </p:sp>
      <p:pic>
        <p:nvPicPr>
          <p:cNvPr id="3" name="Image 0" descr="preencoded.png">    </p:cNvPr>
          <p:cNvPicPr>
            <a:picLocks noChangeAspect="1"/>
          </p:cNvPicPr>
          <p:nvPr/>
        </p:nvPicPr>
        <p:blipFill>
          <a:blip r:embed="rId1"/>
          <a:stretch>
            <a:fillRect/>
          </a:stretch>
        </p:blipFill>
        <p:spPr>
          <a:xfrm>
            <a:off x="703174" y="657454"/>
            <a:ext cx="285293" cy="285293"/>
          </a:xfrm>
          <a:prstGeom prst="rect">
            <a:avLst/>
          </a:prstGeom>
        </p:spPr>
      </p:pic>
      <p:sp>
        <p:nvSpPr>
          <p:cNvPr id="4" name="Text 1"/>
          <p:cNvSpPr/>
          <p:nvPr/>
        </p:nvSpPr>
        <p:spPr>
          <a:xfrm>
            <a:off x="1325880" y="457200"/>
            <a:ext cx="7315200" cy="685800"/>
          </a:xfrm>
          <a:prstGeom prst="rect">
            <a:avLst/>
          </a:prstGeom>
          <a:noFill/>
          <a:ln/>
        </p:spPr>
        <p:txBody>
          <a:bodyPr wrap="square" lIns="0" tIns="0" rIns="0" bIns="0" rtlCol="0" anchor="ctr"/>
          <a:lstStyle/>
          <a:p>
            <a:pPr indent="0" marL="0">
              <a:buNone/>
            </a:pPr>
            <a:r>
              <a:rPr lang="en-US" sz="2600" b="1" dirty="0">
                <a:solidFill>
                  <a:srgbClr val="E8E6E1"/>
                </a:solidFill>
                <a:latin typeface="Cambria" pitchFamily="34" charset="0"/>
                <a:ea typeface="Cambria" pitchFamily="34" charset="-122"/>
                <a:cs typeface="Cambria" pitchFamily="34" charset="-120"/>
              </a:rPr>
              <a:t>Moderación y protección contra spam</a:t>
            </a:r>
            <a:endParaRPr lang="en-US" sz="2600" dirty="0"/>
          </a:p>
        </p:txBody>
      </p:sp>
      <p:sp>
        <p:nvSpPr>
          <p:cNvPr id="5" name="Text 2"/>
          <p:cNvSpPr/>
          <p:nvPr/>
        </p:nvSpPr>
        <p:spPr>
          <a:xfrm>
            <a:off x="548640" y="1188720"/>
            <a:ext cx="5486400" cy="274320"/>
          </a:xfrm>
          <a:prstGeom prst="rect">
            <a:avLst/>
          </a:prstGeom>
          <a:noFill/>
          <a:ln/>
        </p:spPr>
        <p:txBody>
          <a:bodyPr wrap="square" rtlCol="0" anchor="ctr"/>
          <a:lstStyle/>
          <a:p>
            <a:pPr indent="0" marL="0">
              <a:buNone/>
            </a:pPr>
            <a:r>
              <a:rPr lang="en-US" sz="1000" spc="100" kern="0" dirty="0">
                <a:solidFill>
                  <a:srgbClr val="9A9DA6"/>
                </a:solidFill>
                <a:latin typeface="Courier New" pitchFamily="34" charset="0"/>
                <a:ea typeface="Courier New" pitchFamily="34" charset="-122"/>
                <a:cs typeface="Courier New" pitchFamily="34" charset="-120"/>
              </a:rPr>
              <a:t>FUNCIONALIDAD 6 DE 6</a:t>
            </a:r>
            <a:endParaRPr lang="en-US" sz="1000" dirty="0"/>
          </a:p>
        </p:txBody>
      </p:sp>
      <p:sp>
        <p:nvSpPr>
          <p:cNvPr id="6" name="Text 3"/>
          <p:cNvSpPr/>
          <p:nvPr/>
        </p:nvSpPr>
        <p:spPr>
          <a:xfrm>
            <a:off x="548640" y="1600200"/>
            <a:ext cx="4572000" cy="3291840"/>
          </a:xfrm>
          <a:prstGeom prst="rect">
            <a:avLst/>
          </a:prstGeom>
          <a:noFill/>
          <a:ln/>
        </p:spPr>
        <p:txBody>
          <a:bodyPr wrap="square" rtlCol="0" anchor="ctr"/>
          <a:lstStyle/>
          <a:p>
            <a:pPr indent="0" marL="0">
              <a:lnSpc>
                <a:spcPct val="130000"/>
              </a:lnSpc>
              <a:buNone/>
            </a:pPr>
            <a:r>
              <a:rPr lang="en-US" sz="1400" dirty="0">
                <a:solidFill>
                  <a:srgbClr val="E8E6E1"/>
                </a:solidFill>
                <a:latin typeface="Calibri" pitchFamily="34" charset="0"/>
                <a:ea typeface="Calibri" pitchFamily="34" charset="-122"/>
                <a:cs typeface="Calibri" pitchFamily="34" charset="-120"/>
              </a:rPr>
              <a:t>Un usuario no puede publicar más de una entrada cada 5 minutos ni más de 5 por día. Cualquier entrada puede ser reportada por la comunidad: tras 3 reportes de usuarios distintos se oculta automáticamente del blog público, sin perder el dato (el autor y el staff la siguen viendo).</a:t>
            </a:r>
            <a:endParaRPr lang="en-US" sz="1400" dirty="0"/>
          </a:p>
        </p:txBody>
      </p:sp>
      <p:sp>
        <p:nvSpPr>
          <p:cNvPr id="7" name="Shape 4"/>
          <p:cNvSpPr/>
          <p:nvPr/>
        </p:nvSpPr>
        <p:spPr>
          <a:xfrm>
            <a:off x="5440680" y="1600200"/>
            <a:ext cx="6172200" cy="3657600"/>
          </a:xfrm>
          <a:prstGeom prst="rect">
            <a:avLst/>
          </a:prstGeom>
          <a:solidFill>
            <a:srgbClr val="1C1F26"/>
          </a:solidFill>
          <a:ln w="12700">
            <a:solidFill>
              <a:srgbClr val="33363E"/>
            </a:solidFill>
            <a:prstDash val="solid"/>
          </a:ln>
        </p:spPr>
      </p:sp>
      <p:sp>
        <p:nvSpPr>
          <p:cNvPr id="8" name="Shape 5"/>
          <p:cNvSpPr/>
          <p:nvPr/>
        </p:nvSpPr>
        <p:spPr>
          <a:xfrm>
            <a:off x="5440680" y="1600200"/>
            <a:ext cx="6172200" cy="365760"/>
          </a:xfrm>
          <a:prstGeom prst="rect">
            <a:avLst/>
          </a:prstGeom>
          <a:solidFill>
            <a:srgbClr val="232730"/>
          </a:solidFill>
          <a:ln/>
        </p:spPr>
      </p:sp>
      <p:sp>
        <p:nvSpPr>
          <p:cNvPr id="9" name="Text 6"/>
          <p:cNvSpPr/>
          <p:nvPr/>
        </p:nvSpPr>
        <p:spPr>
          <a:xfrm>
            <a:off x="5669280" y="1600200"/>
            <a:ext cx="5715000" cy="365760"/>
          </a:xfrm>
          <a:prstGeom prst="rect">
            <a:avLst/>
          </a:prstGeom>
          <a:noFill/>
          <a:ln/>
        </p:spPr>
        <p:txBody>
          <a:bodyPr wrap="square" rtlCol="0" anchor="ctr"/>
          <a:lstStyle/>
          <a:p>
            <a:pPr algn="l" indent="0" marL="0">
              <a:buNone/>
            </a:pPr>
            <a:r>
              <a:rPr lang="en-US" sz="1000" dirty="0">
                <a:solidFill>
                  <a:srgbClr val="E8A33D"/>
                </a:solidFill>
                <a:latin typeface="Courier New" pitchFamily="34" charset="0"/>
                <a:ea typeface="Courier New" pitchFamily="34" charset="-122"/>
                <a:cs typeface="Courier New" pitchFamily="34" charset="-120"/>
              </a:rPr>
              <a:t>CAPTURA 6 — mensaje de límite / botón de reporte</a:t>
            </a:r>
            <a:endParaRPr lang="en-US" sz="1000" dirty="0"/>
          </a:p>
        </p:txBody>
      </p:sp>
      <p:pic>
        <p:nvPicPr>
          <p:cNvPr id="10" name="Image 1" descr="preencoded.png">    </p:cNvPr>
          <p:cNvPicPr>
            <a:picLocks noChangeAspect="1"/>
          </p:cNvPicPr>
          <p:nvPr/>
        </p:nvPicPr>
        <p:blipFill>
          <a:blip r:embed="rId2"/>
          <a:stretch>
            <a:fillRect/>
          </a:stretch>
        </p:blipFill>
        <p:spPr>
          <a:xfrm>
            <a:off x="8206740" y="2567635"/>
            <a:ext cx="640080" cy="640080"/>
          </a:xfrm>
          <a:prstGeom prst="rect">
            <a:avLst/>
          </a:prstGeom>
        </p:spPr>
      </p:pic>
      <p:sp>
        <p:nvSpPr>
          <p:cNvPr id="11" name="Text 7"/>
          <p:cNvSpPr/>
          <p:nvPr/>
        </p:nvSpPr>
        <p:spPr>
          <a:xfrm>
            <a:off x="5897880" y="3776472"/>
            <a:ext cx="5257800" cy="1316736"/>
          </a:xfrm>
          <a:prstGeom prst="rect">
            <a:avLst/>
          </a:prstGeom>
          <a:noFill/>
          <a:ln/>
        </p:spPr>
        <p:txBody>
          <a:bodyPr wrap="square" rtlCol="0" anchor="t"/>
          <a:lstStyle/>
          <a:p>
            <a:pPr algn="ctr" indent="0" marL="0">
              <a:buNone/>
            </a:pPr>
            <a:r>
              <a:rPr lang="en-US" sz="1200" i="1" dirty="0">
                <a:solidFill>
                  <a:srgbClr val="9A9DA6"/>
                </a:solidFill>
                <a:latin typeface="Calibri" pitchFamily="34" charset="0"/>
                <a:ea typeface="Calibri" pitchFamily="34" charset="-122"/>
                <a:cs typeface="Calibri" pitchFamily="34" charset="-120"/>
              </a:rPr>
              <a:t>Insertar captura del mensaje de cooldown al publicar dos veces seguido, o del botón "Reportar esta entrada"</a:t>
            </a:r>
            <a:endParaRPr lang="en-US" sz="1200" dirty="0"/>
          </a:p>
        </p:txBody>
      </p:sp>
      <p:sp>
        <p:nvSpPr>
          <p:cNvPr id="12"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Ejecutar el proyecto localmente</a:t>
            </a:r>
            <a:endParaRPr lang="en-US" sz="3000" dirty="0"/>
          </a:p>
        </p:txBody>
      </p:sp>
      <p:sp>
        <p:nvSpPr>
          <p:cNvPr id="3" name="Shape 1"/>
          <p:cNvSpPr/>
          <p:nvPr/>
        </p:nvSpPr>
        <p:spPr>
          <a:xfrm>
            <a:off x="548640" y="1417320"/>
            <a:ext cx="5394960" cy="868680"/>
          </a:xfrm>
          <a:prstGeom prst="rect">
            <a:avLst/>
          </a:prstGeom>
          <a:solidFill>
            <a:srgbClr val="1C1F26"/>
          </a:solidFill>
          <a:ln/>
        </p:spPr>
      </p:sp>
      <p:sp>
        <p:nvSpPr>
          <p:cNvPr id="4" name="Shape 2"/>
          <p:cNvSpPr/>
          <p:nvPr/>
        </p:nvSpPr>
        <p:spPr>
          <a:xfrm>
            <a:off x="731520" y="1600200"/>
            <a:ext cx="502920" cy="502920"/>
          </a:xfrm>
          <a:prstGeom prst="ellipse">
            <a:avLst/>
          </a:prstGeom>
          <a:solidFill>
            <a:srgbClr val="E8A33D"/>
          </a:solidFill>
          <a:ln/>
        </p:spPr>
      </p:sp>
      <p:pic>
        <p:nvPicPr>
          <p:cNvPr id="5" name="Image 0" descr="preencoded.png">    </p:cNvPr>
          <p:cNvPicPr>
            <a:picLocks noChangeAspect="1"/>
          </p:cNvPicPr>
          <p:nvPr/>
        </p:nvPicPr>
        <p:blipFill>
          <a:blip r:embed="rId1"/>
          <a:stretch>
            <a:fillRect/>
          </a:stretch>
        </p:blipFill>
        <p:spPr>
          <a:xfrm>
            <a:off x="862279" y="1730959"/>
            <a:ext cx="241402" cy="241402"/>
          </a:xfrm>
          <a:prstGeom prst="rect">
            <a:avLst/>
          </a:prstGeom>
        </p:spPr>
      </p:pic>
      <p:sp>
        <p:nvSpPr>
          <p:cNvPr id="6" name="Text 3"/>
          <p:cNvSpPr/>
          <p:nvPr/>
        </p:nvSpPr>
        <p:spPr>
          <a:xfrm>
            <a:off x="1417320" y="149047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Requisitos previos</a:t>
            </a:r>
            <a:endParaRPr lang="en-US" sz="1300" dirty="0"/>
          </a:p>
        </p:txBody>
      </p:sp>
      <p:sp>
        <p:nvSpPr>
          <p:cNvPr id="7" name="Text 4"/>
          <p:cNvSpPr/>
          <p:nvPr/>
        </p:nvSpPr>
        <p:spPr>
          <a:xfrm>
            <a:off x="1417320" y="180136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Python 3.12+ instalado y el repositorio clonado en tu máquina.</a:t>
            </a:r>
            <a:endParaRPr lang="en-US" sz="1100" dirty="0"/>
          </a:p>
        </p:txBody>
      </p:sp>
      <p:sp>
        <p:nvSpPr>
          <p:cNvPr id="8" name="Shape 5"/>
          <p:cNvSpPr/>
          <p:nvPr/>
        </p:nvSpPr>
        <p:spPr>
          <a:xfrm>
            <a:off x="6263640" y="1417320"/>
            <a:ext cx="5394960" cy="868680"/>
          </a:xfrm>
          <a:prstGeom prst="rect">
            <a:avLst/>
          </a:prstGeom>
          <a:solidFill>
            <a:srgbClr val="1C1F26"/>
          </a:solidFill>
          <a:ln/>
        </p:spPr>
      </p:sp>
      <p:sp>
        <p:nvSpPr>
          <p:cNvPr id="9" name="Shape 6"/>
          <p:cNvSpPr/>
          <p:nvPr/>
        </p:nvSpPr>
        <p:spPr>
          <a:xfrm>
            <a:off x="6446520" y="1600200"/>
            <a:ext cx="502920" cy="502920"/>
          </a:xfrm>
          <a:prstGeom prst="ellipse">
            <a:avLst/>
          </a:prstGeom>
          <a:solidFill>
            <a:srgbClr val="E8A33D"/>
          </a:solidFill>
          <a:ln/>
        </p:spPr>
      </p:sp>
      <p:pic>
        <p:nvPicPr>
          <p:cNvPr id="10" name="Image 1" descr="preencoded.png">    </p:cNvPr>
          <p:cNvPicPr>
            <a:picLocks noChangeAspect="1"/>
          </p:cNvPicPr>
          <p:nvPr/>
        </p:nvPicPr>
        <p:blipFill>
          <a:blip r:embed="rId2"/>
          <a:stretch>
            <a:fillRect/>
          </a:stretch>
        </p:blipFill>
        <p:spPr>
          <a:xfrm>
            <a:off x="6577279" y="1730959"/>
            <a:ext cx="241402" cy="241402"/>
          </a:xfrm>
          <a:prstGeom prst="rect">
            <a:avLst/>
          </a:prstGeom>
        </p:spPr>
      </p:pic>
      <p:sp>
        <p:nvSpPr>
          <p:cNvPr id="11" name="Text 7"/>
          <p:cNvSpPr/>
          <p:nvPr/>
        </p:nvSpPr>
        <p:spPr>
          <a:xfrm>
            <a:off x="7132320" y="149047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Entorno virtual</a:t>
            </a:r>
            <a:endParaRPr lang="en-US" sz="1300" dirty="0"/>
          </a:p>
        </p:txBody>
      </p:sp>
      <p:sp>
        <p:nvSpPr>
          <p:cNvPr id="12" name="Text 8"/>
          <p:cNvSpPr/>
          <p:nvPr/>
        </p:nvSpPr>
        <p:spPr>
          <a:xfrm>
            <a:off x="7132320" y="180136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python -m venv venv  /  venv\Scripts\activate (Windows)</a:t>
            </a:r>
            <a:endParaRPr lang="en-US" sz="1100" dirty="0"/>
          </a:p>
        </p:txBody>
      </p:sp>
      <p:sp>
        <p:nvSpPr>
          <p:cNvPr id="13" name="Shape 9"/>
          <p:cNvSpPr/>
          <p:nvPr/>
        </p:nvSpPr>
        <p:spPr>
          <a:xfrm>
            <a:off x="548640" y="2423160"/>
            <a:ext cx="5394960" cy="868680"/>
          </a:xfrm>
          <a:prstGeom prst="rect">
            <a:avLst/>
          </a:prstGeom>
          <a:solidFill>
            <a:srgbClr val="1C1F26"/>
          </a:solidFill>
          <a:ln/>
        </p:spPr>
      </p:sp>
      <p:sp>
        <p:nvSpPr>
          <p:cNvPr id="14" name="Shape 10"/>
          <p:cNvSpPr/>
          <p:nvPr/>
        </p:nvSpPr>
        <p:spPr>
          <a:xfrm>
            <a:off x="731520" y="2606040"/>
            <a:ext cx="502920" cy="502920"/>
          </a:xfrm>
          <a:prstGeom prst="ellipse">
            <a:avLst/>
          </a:prstGeom>
          <a:solidFill>
            <a:srgbClr val="E8A33D"/>
          </a:solidFill>
          <a:ln/>
        </p:spPr>
      </p:sp>
      <p:pic>
        <p:nvPicPr>
          <p:cNvPr id="15" name="Image 2" descr="preencoded.png">    </p:cNvPr>
          <p:cNvPicPr>
            <a:picLocks noChangeAspect="1"/>
          </p:cNvPicPr>
          <p:nvPr/>
        </p:nvPicPr>
        <p:blipFill>
          <a:blip r:embed="rId3"/>
          <a:stretch>
            <a:fillRect/>
          </a:stretch>
        </p:blipFill>
        <p:spPr>
          <a:xfrm>
            <a:off x="862279" y="2736799"/>
            <a:ext cx="241402" cy="241402"/>
          </a:xfrm>
          <a:prstGeom prst="rect">
            <a:avLst/>
          </a:prstGeom>
        </p:spPr>
      </p:pic>
      <p:sp>
        <p:nvSpPr>
          <p:cNvPr id="16" name="Text 11"/>
          <p:cNvSpPr/>
          <p:nvPr/>
        </p:nvSpPr>
        <p:spPr>
          <a:xfrm>
            <a:off x="1417320" y="249631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Dependencias</a:t>
            </a:r>
            <a:endParaRPr lang="en-US" sz="1300" dirty="0"/>
          </a:p>
        </p:txBody>
      </p:sp>
      <p:sp>
        <p:nvSpPr>
          <p:cNvPr id="17" name="Text 12"/>
          <p:cNvSpPr/>
          <p:nvPr/>
        </p:nvSpPr>
        <p:spPr>
          <a:xfrm>
            <a:off x="1417320" y="280720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pip install -r requirements.txt</a:t>
            </a:r>
            <a:endParaRPr lang="en-US" sz="1100" dirty="0"/>
          </a:p>
        </p:txBody>
      </p:sp>
      <p:sp>
        <p:nvSpPr>
          <p:cNvPr id="18" name="Shape 13"/>
          <p:cNvSpPr/>
          <p:nvPr/>
        </p:nvSpPr>
        <p:spPr>
          <a:xfrm>
            <a:off x="6263640" y="2423160"/>
            <a:ext cx="5394960" cy="868680"/>
          </a:xfrm>
          <a:prstGeom prst="rect">
            <a:avLst/>
          </a:prstGeom>
          <a:solidFill>
            <a:srgbClr val="1C1F26"/>
          </a:solidFill>
          <a:ln/>
        </p:spPr>
      </p:sp>
      <p:sp>
        <p:nvSpPr>
          <p:cNvPr id="19" name="Shape 14"/>
          <p:cNvSpPr/>
          <p:nvPr/>
        </p:nvSpPr>
        <p:spPr>
          <a:xfrm>
            <a:off x="6446520" y="2606040"/>
            <a:ext cx="502920" cy="502920"/>
          </a:xfrm>
          <a:prstGeom prst="ellipse">
            <a:avLst/>
          </a:prstGeom>
          <a:solidFill>
            <a:srgbClr val="E8A33D"/>
          </a:solidFill>
          <a:ln/>
        </p:spPr>
      </p:sp>
      <p:pic>
        <p:nvPicPr>
          <p:cNvPr id="20" name="Image 3" descr="preencoded.png">    </p:cNvPr>
          <p:cNvPicPr>
            <a:picLocks noChangeAspect="1"/>
          </p:cNvPicPr>
          <p:nvPr/>
        </p:nvPicPr>
        <p:blipFill>
          <a:blip r:embed="rId4"/>
          <a:stretch>
            <a:fillRect/>
          </a:stretch>
        </p:blipFill>
        <p:spPr>
          <a:xfrm>
            <a:off x="6577279" y="2736799"/>
            <a:ext cx="241402" cy="241402"/>
          </a:xfrm>
          <a:prstGeom prst="rect">
            <a:avLst/>
          </a:prstGeom>
        </p:spPr>
      </p:pic>
      <p:sp>
        <p:nvSpPr>
          <p:cNvPr id="21" name="Text 15"/>
          <p:cNvSpPr/>
          <p:nvPr/>
        </p:nvSpPr>
        <p:spPr>
          <a:xfrm>
            <a:off x="7132320" y="249631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Variables de entorno</a:t>
            </a:r>
            <a:endParaRPr lang="en-US" sz="1300" dirty="0"/>
          </a:p>
        </p:txBody>
      </p:sp>
      <p:sp>
        <p:nvSpPr>
          <p:cNvPr id="22" name="Text 16"/>
          <p:cNvSpPr/>
          <p:nvPr/>
        </p:nvSpPr>
        <p:spPr>
          <a:xfrm>
            <a:off x="7132320" y="280720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cp .env.example .env  y completar SECRET_KEY</a:t>
            </a:r>
            <a:endParaRPr lang="en-US" sz="1100" dirty="0"/>
          </a:p>
        </p:txBody>
      </p:sp>
      <p:sp>
        <p:nvSpPr>
          <p:cNvPr id="23" name="Shape 17"/>
          <p:cNvSpPr/>
          <p:nvPr/>
        </p:nvSpPr>
        <p:spPr>
          <a:xfrm>
            <a:off x="548640" y="3429000"/>
            <a:ext cx="5394960" cy="868680"/>
          </a:xfrm>
          <a:prstGeom prst="rect">
            <a:avLst/>
          </a:prstGeom>
          <a:solidFill>
            <a:srgbClr val="1C1F26"/>
          </a:solidFill>
          <a:ln/>
        </p:spPr>
      </p:sp>
      <p:sp>
        <p:nvSpPr>
          <p:cNvPr id="24" name="Shape 18"/>
          <p:cNvSpPr/>
          <p:nvPr/>
        </p:nvSpPr>
        <p:spPr>
          <a:xfrm>
            <a:off x="731520" y="3611880"/>
            <a:ext cx="502920" cy="502920"/>
          </a:xfrm>
          <a:prstGeom prst="ellipse">
            <a:avLst/>
          </a:prstGeom>
          <a:solidFill>
            <a:srgbClr val="E8A33D"/>
          </a:solidFill>
          <a:ln/>
        </p:spPr>
      </p:sp>
      <p:pic>
        <p:nvPicPr>
          <p:cNvPr id="25" name="Image 4" descr="preencoded.png">    </p:cNvPr>
          <p:cNvPicPr>
            <a:picLocks noChangeAspect="1"/>
          </p:cNvPicPr>
          <p:nvPr/>
        </p:nvPicPr>
        <p:blipFill>
          <a:blip r:embed="rId5"/>
          <a:stretch>
            <a:fillRect/>
          </a:stretch>
        </p:blipFill>
        <p:spPr>
          <a:xfrm>
            <a:off x="862279" y="3742639"/>
            <a:ext cx="241402" cy="241402"/>
          </a:xfrm>
          <a:prstGeom prst="rect">
            <a:avLst/>
          </a:prstGeom>
        </p:spPr>
      </p:pic>
      <p:sp>
        <p:nvSpPr>
          <p:cNvPr id="26" name="Text 19"/>
          <p:cNvSpPr/>
          <p:nvPr/>
        </p:nvSpPr>
        <p:spPr>
          <a:xfrm>
            <a:off x="1417320" y="350215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Base de datos</a:t>
            </a:r>
            <a:endParaRPr lang="en-US" sz="1300" dirty="0"/>
          </a:p>
        </p:txBody>
      </p:sp>
      <p:sp>
        <p:nvSpPr>
          <p:cNvPr id="27" name="Text 20"/>
          <p:cNvSpPr/>
          <p:nvPr/>
        </p:nvSpPr>
        <p:spPr>
          <a:xfrm>
            <a:off x="1417320" y="381304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python manage.py migrate</a:t>
            </a:r>
            <a:endParaRPr lang="en-US" sz="1100" dirty="0"/>
          </a:p>
        </p:txBody>
      </p:sp>
      <p:sp>
        <p:nvSpPr>
          <p:cNvPr id="28" name="Shape 21"/>
          <p:cNvSpPr/>
          <p:nvPr/>
        </p:nvSpPr>
        <p:spPr>
          <a:xfrm>
            <a:off x="6263640" y="3429000"/>
            <a:ext cx="5394960" cy="868680"/>
          </a:xfrm>
          <a:prstGeom prst="rect">
            <a:avLst/>
          </a:prstGeom>
          <a:solidFill>
            <a:srgbClr val="1C1F26"/>
          </a:solidFill>
          <a:ln/>
        </p:spPr>
      </p:sp>
      <p:sp>
        <p:nvSpPr>
          <p:cNvPr id="29" name="Shape 22"/>
          <p:cNvSpPr/>
          <p:nvPr/>
        </p:nvSpPr>
        <p:spPr>
          <a:xfrm>
            <a:off x="6446520" y="3611880"/>
            <a:ext cx="502920" cy="502920"/>
          </a:xfrm>
          <a:prstGeom prst="ellipse">
            <a:avLst/>
          </a:prstGeom>
          <a:solidFill>
            <a:srgbClr val="E8A33D"/>
          </a:solidFill>
          <a:ln/>
        </p:spPr>
      </p:sp>
      <p:pic>
        <p:nvPicPr>
          <p:cNvPr id="30" name="Image 5" descr="preencoded.png">    </p:cNvPr>
          <p:cNvPicPr>
            <a:picLocks noChangeAspect="1"/>
          </p:cNvPicPr>
          <p:nvPr/>
        </p:nvPicPr>
        <p:blipFill>
          <a:blip r:embed="rId6"/>
          <a:stretch>
            <a:fillRect/>
          </a:stretch>
        </p:blipFill>
        <p:spPr>
          <a:xfrm>
            <a:off x="6577279" y="3742639"/>
            <a:ext cx="241402" cy="241402"/>
          </a:xfrm>
          <a:prstGeom prst="rect">
            <a:avLst/>
          </a:prstGeom>
        </p:spPr>
      </p:pic>
      <p:sp>
        <p:nvSpPr>
          <p:cNvPr id="31" name="Text 23"/>
          <p:cNvSpPr/>
          <p:nvPr/>
        </p:nvSpPr>
        <p:spPr>
          <a:xfrm>
            <a:off x="7132320" y="3502152"/>
            <a:ext cx="4297680" cy="320040"/>
          </a:xfrm>
          <a:prstGeom prst="rect">
            <a:avLst/>
          </a:prstGeom>
          <a:noFill/>
          <a:ln/>
        </p:spPr>
        <p:txBody>
          <a:bodyPr wrap="square" rtlCol="0" anchor="ctr"/>
          <a:lstStyle/>
          <a:p>
            <a:pPr indent="0" marL="0">
              <a:buNone/>
            </a:pPr>
            <a:r>
              <a:rPr lang="en-US" sz="1300" b="1" dirty="0">
                <a:solidFill>
                  <a:srgbClr val="E8E6E1"/>
                </a:solidFill>
                <a:latin typeface="Calibri" pitchFamily="34" charset="0"/>
                <a:ea typeface="Calibri" pitchFamily="34" charset="-122"/>
                <a:cs typeface="Calibri" pitchFamily="34" charset="-120"/>
              </a:rPr>
              <a:t>Datos de ejemplo</a:t>
            </a:r>
            <a:endParaRPr lang="en-US" sz="1300" dirty="0"/>
          </a:p>
        </p:txBody>
      </p:sp>
      <p:sp>
        <p:nvSpPr>
          <p:cNvPr id="32" name="Text 24"/>
          <p:cNvSpPr/>
          <p:nvPr/>
        </p:nvSpPr>
        <p:spPr>
          <a:xfrm>
            <a:off x="7132320" y="3813048"/>
            <a:ext cx="4297680" cy="411480"/>
          </a:xfrm>
          <a:prstGeom prst="rect">
            <a:avLst/>
          </a:prstGeom>
          <a:noFill/>
          <a:ln/>
        </p:spPr>
        <p:txBody>
          <a:bodyPr wrap="square" rtlCol="0" anchor="ctr"/>
          <a:lstStyle/>
          <a:p>
            <a:pPr indent="0" marL="0">
              <a:buNone/>
            </a:pPr>
            <a:r>
              <a:rPr lang="en-US" sz="1100" dirty="0">
                <a:solidFill>
                  <a:srgbClr val="F4B860"/>
                </a:solidFill>
                <a:latin typeface="Courier New" pitchFamily="34" charset="0"/>
                <a:ea typeface="Courier New" pitchFamily="34" charset="-122"/>
                <a:cs typeface="Courier New" pitchFamily="34" charset="-120"/>
              </a:rPr>
              <a:t>python manage.py createsuperuser  /  cargar_datos_ejemplo</a:t>
            </a:r>
            <a:endParaRPr lang="en-US" sz="1100" dirty="0"/>
          </a:p>
        </p:txBody>
      </p:sp>
      <p:sp>
        <p:nvSpPr>
          <p:cNvPr id="33" name="Text 25"/>
          <p:cNvSpPr/>
          <p:nvPr/>
        </p:nvSpPr>
        <p:spPr>
          <a:xfrm>
            <a:off x="548640" y="4434840"/>
            <a:ext cx="11064240" cy="457200"/>
          </a:xfrm>
          <a:prstGeom prst="rect">
            <a:avLst/>
          </a:prstGeom>
          <a:noFill/>
          <a:ln/>
        </p:spPr>
        <p:txBody>
          <a:bodyPr wrap="square" rtlCol="0" anchor="ctr"/>
          <a:lstStyle/>
          <a:p>
            <a:pPr algn="ctr" indent="0" marL="0">
              <a:buNone/>
            </a:pPr>
            <a:r>
              <a:rPr lang="en-US" sz="1400" b="1" dirty="0">
                <a:solidFill>
                  <a:srgbClr val="E8A33D"/>
                </a:solidFill>
                <a:latin typeface="Courier New" pitchFamily="34" charset="0"/>
                <a:ea typeface="Courier New" pitchFamily="34" charset="-122"/>
                <a:cs typeface="Courier New" pitchFamily="34" charset="-120"/>
              </a:rPr>
              <a:t>python manage.py runserver  →  http://127.0.0.1:8000/</a:t>
            </a:r>
            <a:endParaRPr lang="en-US" sz="1400" dirty="0"/>
          </a:p>
        </p:txBody>
      </p:sp>
      <p:sp>
        <p:nvSpPr>
          <p:cNvPr id="34" name="Text 26"/>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Despliegue y URL pública</a:t>
            </a:r>
            <a:endParaRPr lang="en-US" sz="3000" dirty="0"/>
          </a:p>
        </p:txBody>
      </p:sp>
      <p:sp>
        <p:nvSpPr>
          <p:cNvPr id="3" name="Shape 1"/>
          <p:cNvSpPr/>
          <p:nvPr/>
        </p:nvSpPr>
        <p:spPr>
          <a:xfrm>
            <a:off x="548640" y="1554480"/>
            <a:ext cx="822960" cy="822960"/>
          </a:xfrm>
          <a:prstGeom prst="ellipse">
            <a:avLst/>
          </a:prstGeom>
          <a:solidFill>
            <a:srgbClr val="E8A33D"/>
          </a:solidFill>
          <a:ln/>
        </p:spPr>
      </p:sp>
      <p:pic>
        <p:nvPicPr>
          <p:cNvPr id="4" name="Image 0" descr="preencoded.png">    </p:cNvPr>
          <p:cNvPicPr>
            <a:picLocks noChangeAspect="1"/>
          </p:cNvPicPr>
          <p:nvPr/>
        </p:nvPicPr>
        <p:blipFill>
          <a:blip r:embed="rId1"/>
          <a:stretch>
            <a:fillRect/>
          </a:stretch>
        </p:blipFill>
        <p:spPr>
          <a:xfrm>
            <a:off x="762610" y="1768450"/>
            <a:ext cx="395021" cy="395021"/>
          </a:xfrm>
          <a:prstGeom prst="rect">
            <a:avLst/>
          </a:prstGeom>
        </p:spPr>
      </p:pic>
      <p:sp>
        <p:nvSpPr>
          <p:cNvPr id="5" name="Text 2"/>
          <p:cNvSpPr/>
          <p:nvPr/>
        </p:nvSpPr>
        <p:spPr>
          <a:xfrm>
            <a:off x="1600200" y="1554480"/>
            <a:ext cx="4572000" cy="411480"/>
          </a:xfrm>
          <a:prstGeom prst="rect">
            <a:avLst/>
          </a:prstGeom>
          <a:noFill/>
          <a:ln/>
        </p:spPr>
        <p:txBody>
          <a:bodyPr wrap="square" rtlCol="0" anchor="ctr"/>
          <a:lstStyle/>
          <a:p>
            <a:pPr indent="0" marL="0">
              <a:buNone/>
            </a:pPr>
            <a:r>
              <a:rPr lang="en-US" sz="1600" b="1" dirty="0">
                <a:solidFill>
                  <a:srgbClr val="E8E6E1"/>
                </a:solidFill>
                <a:latin typeface="Calibri" pitchFamily="34" charset="0"/>
                <a:ea typeface="Calibri" pitchFamily="34" charset="-122"/>
                <a:cs typeface="Calibri" pitchFamily="34" charset="-120"/>
              </a:rPr>
              <a:t>Entorno de despliegue: Render</a:t>
            </a:r>
            <a:endParaRPr lang="en-US" sz="1600" dirty="0"/>
          </a:p>
        </p:txBody>
      </p:sp>
      <p:sp>
        <p:nvSpPr>
          <p:cNvPr id="6" name="Text 3"/>
          <p:cNvSpPr/>
          <p:nvPr/>
        </p:nvSpPr>
        <p:spPr>
          <a:xfrm>
            <a:off x="1600200" y="2011680"/>
            <a:ext cx="9052560" cy="1005840"/>
          </a:xfrm>
          <a:prstGeom prst="rect">
            <a:avLst/>
          </a:prstGeom>
          <a:noFill/>
          <a:ln/>
        </p:spPr>
        <p:txBody>
          <a:bodyPr wrap="square" rtlCol="0" anchor="ctr"/>
          <a:lstStyle/>
          <a:p>
            <a:pPr indent="0" marL="0">
              <a:lnSpc>
                <a:spcPct val="125000"/>
              </a:lnSpc>
              <a:buNone/>
            </a:pPr>
            <a:r>
              <a:rPr lang="en-US" sz="1250" dirty="0">
                <a:solidFill>
                  <a:srgbClr val="9A9DA6"/>
                </a:solidFill>
                <a:latin typeface="Calibri" pitchFamily="34" charset="0"/>
                <a:ea typeface="Calibri" pitchFamily="34" charset="-122"/>
                <a:cs typeface="Calibri" pitchFamily="34" charset="-120"/>
              </a:rPr>
              <a:t>Render.com (plan gratuito). El servicio web ejecuta Gunicorn sobre una base de datos PostgreSQL gratuita, con archivos estáticos servidos por WhiteNoise. El build y las migraciones se aplican automáticamente en cada deploy mediante un script (build.sh).</a:t>
            </a:r>
            <a:endParaRPr lang="en-US" sz="1250" dirty="0"/>
          </a:p>
        </p:txBody>
      </p:sp>
      <p:sp>
        <p:nvSpPr>
          <p:cNvPr id="7" name="Shape 4"/>
          <p:cNvSpPr/>
          <p:nvPr/>
        </p:nvSpPr>
        <p:spPr>
          <a:xfrm>
            <a:off x="548640" y="3246120"/>
            <a:ext cx="10927080" cy="777240"/>
          </a:xfrm>
          <a:prstGeom prst="rect">
            <a:avLst/>
          </a:prstGeom>
          <a:solidFill>
            <a:srgbClr val="1C1F26"/>
          </a:solidFill>
          <a:ln/>
        </p:spPr>
      </p:sp>
      <p:sp>
        <p:nvSpPr>
          <p:cNvPr id="8" name="Text 5"/>
          <p:cNvSpPr/>
          <p:nvPr/>
        </p:nvSpPr>
        <p:spPr>
          <a:xfrm>
            <a:off x="777240" y="3337560"/>
            <a:ext cx="2286000" cy="274320"/>
          </a:xfrm>
          <a:prstGeom prst="rect">
            <a:avLst/>
          </a:prstGeom>
          <a:noFill/>
          <a:ln/>
        </p:spPr>
        <p:txBody>
          <a:bodyPr wrap="square" rtlCol="0" anchor="ctr"/>
          <a:lstStyle/>
          <a:p>
            <a:pPr indent="0" marL="0">
              <a:buNone/>
            </a:pPr>
            <a:r>
              <a:rPr lang="en-US" sz="1100" b="1" dirty="0">
                <a:solidFill>
                  <a:srgbClr val="E8A33D"/>
                </a:solidFill>
                <a:latin typeface="Calibri" pitchFamily="34" charset="0"/>
                <a:ea typeface="Calibri" pitchFamily="34" charset="-122"/>
                <a:cs typeface="Calibri" pitchFamily="34" charset="-120"/>
              </a:rPr>
              <a:t>URL pública</a:t>
            </a:r>
            <a:endParaRPr lang="en-US" sz="1100" dirty="0"/>
          </a:p>
        </p:txBody>
      </p:sp>
      <p:sp>
        <p:nvSpPr>
          <p:cNvPr id="9" name="Text 6">
            <a:hlinkClick r:id="rId2" tooltip=""/>
          </p:cNvPr>
          <p:cNvSpPr/>
          <p:nvPr/>
        </p:nvSpPr>
        <p:spPr>
          <a:xfrm>
            <a:off x="777240" y="3593592"/>
            <a:ext cx="10332720" cy="365760"/>
          </a:xfrm>
          <a:prstGeom prst="rect">
            <a:avLst/>
          </a:prstGeom>
          <a:noFill/>
          <a:ln/>
        </p:spPr>
        <p:txBody>
          <a:bodyPr wrap="square" rtlCol="0" anchor="ctr"/>
          <a:lstStyle/>
          <a:p>
            <a:pPr indent="0" marL="0">
              <a:buNone/>
            </a:pPr>
            <a:r>
              <a:rPr lang="en-US" sz="1500" u="sng" dirty="0">
                <a:solidFill>
                  <a:srgbClr val="F4B860"/>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https://blog-mapa-del-delito-comunitario.onrender.com/incidentes/</a:t>
            </a:r>
            <a:endParaRPr lang="en-US" sz="1500" dirty="0"/>
          </a:p>
        </p:txBody>
      </p:sp>
      <p:sp>
        <p:nvSpPr>
          <p:cNvPr id="10" name="Text 7"/>
          <p:cNvSpPr/>
          <p:nvPr/>
        </p:nvSpPr>
        <p:spPr>
          <a:xfrm>
            <a:off x="548640" y="4251960"/>
            <a:ext cx="10927080" cy="457200"/>
          </a:xfrm>
          <a:prstGeom prst="rect">
            <a:avLst/>
          </a:prstGeom>
          <a:noFill/>
          <a:ln/>
        </p:spPr>
        <p:txBody>
          <a:bodyPr wrap="square" rtlCol="0" anchor="ctr"/>
          <a:lstStyle/>
          <a:p>
            <a:pPr indent="0" marL="0">
              <a:buNone/>
            </a:pPr>
            <a:r>
              <a:rPr lang="en-US" sz="1150" i="1" dirty="0">
                <a:solidFill>
                  <a:srgbClr val="9A9DA6"/>
                </a:solidFill>
                <a:latin typeface="Calibri" pitchFamily="34" charset="0"/>
                <a:ea typeface="Calibri" pitchFamily="34" charset="-122"/>
                <a:cs typeface="Calibri" pitchFamily="34" charset="-120"/>
              </a:rPr>
              <a:t>Nota: el plan gratuito de Render "duerme" el servicio tras 15 minutos sin tráfico; la primera carga puede demorar 20-30 segundos en reactivarse.</a:t>
            </a:r>
            <a:endParaRPr lang="en-US" sz="1150" dirty="0"/>
          </a:p>
        </p:txBody>
      </p:sp>
      <p:sp>
        <p:nvSpPr>
          <p:cNvPr id="11" name="Text 8"/>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E0F12"/>
        </a:solidFill>
      </p:bgPr>
    </p:bg>
    <p:spTree>
      <p:nvGrpSpPr>
        <p:cNvPr id="1" name=""/>
        <p:cNvGrpSpPr/>
        <p:nvPr/>
      </p:nvGrpSpPr>
      <p:grpSpPr>
        <a:xfrm>
          <a:off x="0" y="0"/>
          <a:ext cx="0" cy="0"/>
          <a:chOff x="0" y="0"/>
          <a:chExt cx="0" cy="0"/>
        </a:xfrm>
      </p:grpSpPr>
      <p:sp>
        <p:nvSpPr>
          <p:cNvPr id="2" name="Text 0"/>
          <p:cNvSpPr/>
          <p:nvPr/>
        </p:nvSpPr>
        <p:spPr>
          <a:xfrm>
            <a:off x="548640" y="457200"/>
            <a:ext cx="11064240" cy="731520"/>
          </a:xfrm>
          <a:prstGeom prst="rect">
            <a:avLst/>
          </a:prstGeom>
          <a:noFill/>
          <a:ln/>
        </p:spPr>
        <p:txBody>
          <a:bodyPr wrap="square" lIns="0" tIns="0" rIns="0" bIns="0" rtlCol="0" anchor="ctr"/>
          <a:lstStyle/>
          <a:p>
            <a:pPr algn="l" indent="0" marL="0">
              <a:buNone/>
            </a:pPr>
            <a:r>
              <a:rPr lang="en-US" sz="3000" b="1" dirty="0">
                <a:solidFill>
                  <a:srgbClr val="E8E6E1"/>
                </a:solidFill>
                <a:latin typeface="Cambria" pitchFamily="34" charset="0"/>
                <a:ea typeface="Cambria" pitchFamily="34" charset="-122"/>
                <a:cs typeface="Cambria" pitchFamily="34" charset="-120"/>
              </a:rPr>
              <a:t>Checklist de entrega</a:t>
            </a:r>
            <a:endParaRPr lang="en-US" sz="3000" dirty="0"/>
          </a:p>
        </p:txBody>
      </p:sp>
      <p:sp>
        <p:nvSpPr>
          <p:cNvPr id="3" name="Shape 1"/>
          <p:cNvSpPr/>
          <p:nvPr/>
        </p:nvSpPr>
        <p:spPr>
          <a:xfrm>
            <a:off x="548640" y="1417320"/>
            <a:ext cx="384048" cy="384048"/>
          </a:xfrm>
          <a:prstGeom prst="ellipse">
            <a:avLst/>
          </a:prstGeom>
          <a:solidFill>
            <a:srgbClr val="5B8C5A"/>
          </a:solidFill>
          <a:ln/>
        </p:spPr>
      </p:sp>
      <p:pic>
        <p:nvPicPr>
          <p:cNvPr id="4" name="Image 0" descr="preencoded.png">    </p:cNvPr>
          <p:cNvPicPr>
            <a:picLocks noChangeAspect="1"/>
          </p:cNvPicPr>
          <p:nvPr/>
        </p:nvPicPr>
        <p:blipFill>
          <a:blip r:embed="rId1"/>
          <a:stretch>
            <a:fillRect/>
          </a:stretch>
        </p:blipFill>
        <p:spPr>
          <a:xfrm>
            <a:off x="648492" y="1517172"/>
            <a:ext cx="184343" cy="184343"/>
          </a:xfrm>
          <a:prstGeom prst="rect">
            <a:avLst/>
          </a:prstGeom>
        </p:spPr>
      </p:pic>
      <p:sp>
        <p:nvSpPr>
          <p:cNvPr id="5" name="Text 2"/>
          <p:cNvSpPr/>
          <p:nvPr/>
        </p:nvSpPr>
        <p:spPr>
          <a:xfrm>
            <a:off x="1143000" y="1389888"/>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Panel de administración con gestión de contenidos y usuarios</a:t>
            </a:r>
            <a:endParaRPr lang="en-US" sz="1400" dirty="0"/>
          </a:p>
        </p:txBody>
      </p:sp>
      <p:sp>
        <p:nvSpPr>
          <p:cNvPr id="6" name="Shape 3"/>
          <p:cNvSpPr/>
          <p:nvPr/>
        </p:nvSpPr>
        <p:spPr>
          <a:xfrm>
            <a:off x="548640" y="1929384"/>
            <a:ext cx="384048" cy="384048"/>
          </a:xfrm>
          <a:prstGeom prst="ellipse">
            <a:avLst/>
          </a:prstGeom>
          <a:solidFill>
            <a:srgbClr val="5B8C5A"/>
          </a:solidFill>
          <a:ln/>
        </p:spPr>
      </p:sp>
      <p:pic>
        <p:nvPicPr>
          <p:cNvPr id="7" name="Image 1" descr="preencoded.png">    </p:cNvPr>
          <p:cNvPicPr>
            <a:picLocks noChangeAspect="1"/>
          </p:cNvPicPr>
          <p:nvPr/>
        </p:nvPicPr>
        <p:blipFill>
          <a:blip r:embed="rId2"/>
          <a:stretch>
            <a:fillRect/>
          </a:stretch>
        </p:blipFill>
        <p:spPr>
          <a:xfrm>
            <a:off x="648492" y="2029236"/>
            <a:ext cx="184343" cy="184343"/>
          </a:xfrm>
          <a:prstGeom prst="rect">
            <a:avLst/>
          </a:prstGeom>
        </p:spPr>
      </p:pic>
      <p:sp>
        <p:nvSpPr>
          <p:cNvPr id="8" name="Text 4"/>
          <p:cNvSpPr/>
          <p:nvPr/>
        </p:nvSpPr>
        <p:spPr>
          <a:xfrm>
            <a:off x="1143000" y="1901952"/>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Registro, login y logout funcionando de forma segura</a:t>
            </a:r>
            <a:endParaRPr lang="en-US" sz="1400" dirty="0"/>
          </a:p>
        </p:txBody>
      </p:sp>
      <p:sp>
        <p:nvSpPr>
          <p:cNvPr id="9" name="Shape 5"/>
          <p:cNvSpPr/>
          <p:nvPr/>
        </p:nvSpPr>
        <p:spPr>
          <a:xfrm>
            <a:off x="548640" y="2441448"/>
            <a:ext cx="384048" cy="384048"/>
          </a:xfrm>
          <a:prstGeom prst="ellipse">
            <a:avLst/>
          </a:prstGeom>
          <a:solidFill>
            <a:srgbClr val="5B8C5A"/>
          </a:solidFill>
          <a:ln/>
        </p:spPr>
      </p:sp>
      <p:pic>
        <p:nvPicPr>
          <p:cNvPr id="10" name="Image 2" descr="preencoded.png">    </p:cNvPr>
          <p:cNvPicPr>
            <a:picLocks noChangeAspect="1"/>
          </p:cNvPicPr>
          <p:nvPr/>
        </p:nvPicPr>
        <p:blipFill>
          <a:blip r:embed="rId3"/>
          <a:stretch>
            <a:fillRect/>
          </a:stretch>
        </p:blipFill>
        <p:spPr>
          <a:xfrm>
            <a:off x="648492" y="2541300"/>
            <a:ext cx="184343" cy="184343"/>
          </a:xfrm>
          <a:prstGeom prst="rect">
            <a:avLst/>
          </a:prstGeom>
        </p:spPr>
      </p:pic>
      <p:sp>
        <p:nvSpPr>
          <p:cNvPr id="11" name="Text 6"/>
          <p:cNvSpPr/>
          <p:nvPr/>
        </p:nvSpPr>
        <p:spPr>
          <a:xfrm>
            <a:off x="1143000" y="2414016"/>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Perfil de usuario con información editable</a:t>
            </a:r>
            <a:endParaRPr lang="en-US" sz="1400" dirty="0"/>
          </a:p>
        </p:txBody>
      </p:sp>
      <p:sp>
        <p:nvSpPr>
          <p:cNvPr id="12" name="Shape 7"/>
          <p:cNvSpPr/>
          <p:nvPr/>
        </p:nvSpPr>
        <p:spPr>
          <a:xfrm>
            <a:off x="548640" y="2953512"/>
            <a:ext cx="384048" cy="384048"/>
          </a:xfrm>
          <a:prstGeom prst="ellipse">
            <a:avLst/>
          </a:prstGeom>
          <a:solidFill>
            <a:srgbClr val="5B8C5A"/>
          </a:solidFill>
          <a:ln/>
        </p:spPr>
      </p:sp>
      <p:pic>
        <p:nvPicPr>
          <p:cNvPr id="13" name="Image 3" descr="preencoded.png">    </p:cNvPr>
          <p:cNvPicPr>
            <a:picLocks noChangeAspect="1"/>
          </p:cNvPicPr>
          <p:nvPr/>
        </p:nvPicPr>
        <p:blipFill>
          <a:blip r:embed="rId4"/>
          <a:stretch>
            <a:fillRect/>
          </a:stretch>
        </p:blipFill>
        <p:spPr>
          <a:xfrm>
            <a:off x="648492" y="3053364"/>
            <a:ext cx="184343" cy="184343"/>
          </a:xfrm>
          <a:prstGeom prst="rect">
            <a:avLst/>
          </a:prstGeom>
        </p:spPr>
      </p:pic>
      <p:sp>
        <p:nvSpPr>
          <p:cNvPr id="14" name="Text 8"/>
          <p:cNvSpPr/>
          <p:nvPr/>
        </p:nvSpPr>
        <p:spPr>
          <a:xfrm>
            <a:off x="1143000" y="2926080"/>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Páginas públicas: blog, mapa interactivo, Acerca de y Contacto</a:t>
            </a:r>
            <a:endParaRPr lang="en-US" sz="1400" dirty="0"/>
          </a:p>
        </p:txBody>
      </p:sp>
      <p:sp>
        <p:nvSpPr>
          <p:cNvPr id="15" name="Shape 9"/>
          <p:cNvSpPr/>
          <p:nvPr/>
        </p:nvSpPr>
        <p:spPr>
          <a:xfrm>
            <a:off x="548640" y="3465576"/>
            <a:ext cx="384048" cy="384048"/>
          </a:xfrm>
          <a:prstGeom prst="ellipse">
            <a:avLst/>
          </a:prstGeom>
          <a:solidFill>
            <a:srgbClr val="5B8C5A"/>
          </a:solidFill>
          <a:ln/>
        </p:spPr>
      </p:sp>
      <p:pic>
        <p:nvPicPr>
          <p:cNvPr id="16" name="Image 4" descr="preencoded.png">    </p:cNvPr>
          <p:cNvPicPr>
            <a:picLocks noChangeAspect="1"/>
          </p:cNvPicPr>
          <p:nvPr/>
        </p:nvPicPr>
        <p:blipFill>
          <a:blip r:embed="rId5"/>
          <a:stretch>
            <a:fillRect/>
          </a:stretch>
        </p:blipFill>
        <p:spPr>
          <a:xfrm>
            <a:off x="648492" y="3565428"/>
            <a:ext cx="184343" cy="184343"/>
          </a:xfrm>
          <a:prstGeom prst="rect">
            <a:avLst/>
          </a:prstGeom>
        </p:spPr>
      </p:pic>
      <p:sp>
        <p:nvSpPr>
          <p:cNvPr id="17" name="Text 10"/>
          <p:cNvSpPr/>
          <p:nvPr/>
        </p:nvSpPr>
        <p:spPr>
          <a:xfrm>
            <a:off x="1143000" y="3438144"/>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Formularios con validación de datos en cada caso</a:t>
            </a:r>
            <a:endParaRPr lang="en-US" sz="1400" dirty="0"/>
          </a:p>
        </p:txBody>
      </p:sp>
      <p:sp>
        <p:nvSpPr>
          <p:cNvPr id="18" name="Shape 11"/>
          <p:cNvSpPr/>
          <p:nvPr/>
        </p:nvSpPr>
        <p:spPr>
          <a:xfrm>
            <a:off x="548640" y="3977640"/>
            <a:ext cx="384048" cy="384048"/>
          </a:xfrm>
          <a:prstGeom prst="ellipse">
            <a:avLst/>
          </a:prstGeom>
          <a:solidFill>
            <a:srgbClr val="5B8C5A"/>
          </a:solidFill>
          <a:ln/>
        </p:spPr>
      </p:sp>
      <p:pic>
        <p:nvPicPr>
          <p:cNvPr id="19" name="Image 5" descr="preencoded.png">    </p:cNvPr>
          <p:cNvPicPr>
            <a:picLocks noChangeAspect="1"/>
          </p:cNvPicPr>
          <p:nvPr/>
        </p:nvPicPr>
        <p:blipFill>
          <a:blip r:embed="rId6"/>
          <a:stretch>
            <a:fillRect/>
          </a:stretch>
        </p:blipFill>
        <p:spPr>
          <a:xfrm>
            <a:off x="648492" y="4077492"/>
            <a:ext cx="184343" cy="184343"/>
          </a:xfrm>
          <a:prstGeom prst="rect">
            <a:avLst/>
          </a:prstGeom>
        </p:spPr>
      </p:pic>
      <p:sp>
        <p:nvSpPr>
          <p:cNvPr id="20" name="Text 12"/>
          <p:cNvSpPr/>
          <p:nvPr/>
        </p:nvSpPr>
        <p:spPr>
          <a:xfrm>
            <a:off x="1143000" y="3950208"/>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Protección contra spam: límite de publicaciones y reportes comunitarios</a:t>
            </a:r>
            <a:endParaRPr lang="en-US" sz="1400" dirty="0"/>
          </a:p>
        </p:txBody>
      </p:sp>
      <p:sp>
        <p:nvSpPr>
          <p:cNvPr id="21" name="Shape 13"/>
          <p:cNvSpPr/>
          <p:nvPr/>
        </p:nvSpPr>
        <p:spPr>
          <a:xfrm>
            <a:off x="548640" y="4489704"/>
            <a:ext cx="384048" cy="384048"/>
          </a:xfrm>
          <a:prstGeom prst="ellipse">
            <a:avLst/>
          </a:prstGeom>
          <a:solidFill>
            <a:srgbClr val="5B8C5A"/>
          </a:solidFill>
          <a:ln/>
        </p:spPr>
      </p:sp>
      <p:pic>
        <p:nvPicPr>
          <p:cNvPr id="22" name="Image 6" descr="preencoded.png">    </p:cNvPr>
          <p:cNvPicPr>
            <a:picLocks noChangeAspect="1"/>
          </p:cNvPicPr>
          <p:nvPr/>
        </p:nvPicPr>
        <p:blipFill>
          <a:blip r:embed="rId7"/>
          <a:stretch>
            <a:fillRect/>
          </a:stretch>
        </p:blipFill>
        <p:spPr>
          <a:xfrm>
            <a:off x="648492" y="4589556"/>
            <a:ext cx="184343" cy="184343"/>
          </a:xfrm>
          <a:prstGeom prst="rect">
            <a:avLst/>
          </a:prstGeom>
        </p:spPr>
      </p:pic>
      <p:sp>
        <p:nvSpPr>
          <p:cNvPr id="23" name="Text 14"/>
          <p:cNvSpPr/>
          <p:nvPr/>
        </p:nvSpPr>
        <p:spPr>
          <a:xfrm>
            <a:off x="1143000" y="4462272"/>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Proyecto desplegado con URL pública operativa</a:t>
            </a:r>
            <a:endParaRPr lang="en-US" sz="1400" dirty="0"/>
          </a:p>
        </p:txBody>
      </p:sp>
      <p:sp>
        <p:nvSpPr>
          <p:cNvPr id="24" name="Shape 15"/>
          <p:cNvSpPr/>
          <p:nvPr/>
        </p:nvSpPr>
        <p:spPr>
          <a:xfrm>
            <a:off x="548640" y="5001768"/>
            <a:ext cx="384048" cy="384048"/>
          </a:xfrm>
          <a:prstGeom prst="ellipse">
            <a:avLst/>
          </a:prstGeom>
          <a:solidFill>
            <a:srgbClr val="5B8C5A"/>
          </a:solidFill>
          <a:ln/>
        </p:spPr>
      </p:sp>
      <p:pic>
        <p:nvPicPr>
          <p:cNvPr id="25" name="Image 7" descr="preencoded.png">    </p:cNvPr>
          <p:cNvPicPr>
            <a:picLocks noChangeAspect="1"/>
          </p:cNvPicPr>
          <p:nvPr/>
        </p:nvPicPr>
        <p:blipFill>
          <a:blip r:embed="rId8"/>
          <a:stretch>
            <a:fillRect/>
          </a:stretch>
        </p:blipFill>
        <p:spPr>
          <a:xfrm>
            <a:off x="648492" y="5101620"/>
            <a:ext cx="184343" cy="184343"/>
          </a:xfrm>
          <a:prstGeom prst="rect">
            <a:avLst/>
          </a:prstGeom>
        </p:spPr>
      </p:pic>
      <p:sp>
        <p:nvSpPr>
          <p:cNvPr id="26" name="Text 16"/>
          <p:cNvSpPr/>
          <p:nvPr/>
        </p:nvSpPr>
        <p:spPr>
          <a:xfrm>
            <a:off x="1143000" y="4974336"/>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Repositorio de GitHub público y documentado</a:t>
            </a:r>
            <a:endParaRPr lang="en-US" sz="1400" dirty="0"/>
          </a:p>
        </p:txBody>
      </p:sp>
      <p:sp>
        <p:nvSpPr>
          <p:cNvPr id="27" name="Shape 17"/>
          <p:cNvSpPr/>
          <p:nvPr/>
        </p:nvSpPr>
        <p:spPr>
          <a:xfrm>
            <a:off x="548640" y="5513832"/>
            <a:ext cx="384048" cy="384048"/>
          </a:xfrm>
          <a:prstGeom prst="ellipse">
            <a:avLst/>
          </a:prstGeom>
          <a:solidFill>
            <a:srgbClr val="5B8C5A"/>
          </a:solidFill>
          <a:ln/>
        </p:spPr>
      </p:sp>
      <p:pic>
        <p:nvPicPr>
          <p:cNvPr id="28" name="Image 8" descr="preencoded.png">    </p:cNvPr>
          <p:cNvPicPr>
            <a:picLocks noChangeAspect="1"/>
          </p:cNvPicPr>
          <p:nvPr/>
        </p:nvPicPr>
        <p:blipFill>
          <a:blip r:embed="rId9"/>
          <a:stretch>
            <a:fillRect/>
          </a:stretch>
        </p:blipFill>
        <p:spPr>
          <a:xfrm>
            <a:off x="648492" y="5613684"/>
            <a:ext cx="184343" cy="184343"/>
          </a:xfrm>
          <a:prstGeom prst="rect">
            <a:avLst/>
          </a:prstGeom>
        </p:spPr>
      </p:pic>
      <p:sp>
        <p:nvSpPr>
          <p:cNvPr id="29" name="Text 18"/>
          <p:cNvSpPr/>
          <p:nvPr/>
        </p:nvSpPr>
        <p:spPr>
          <a:xfrm>
            <a:off x="1143000" y="5486400"/>
            <a:ext cx="9875520" cy="438912"/>
          </a:xfrm>
          <a:prstGeom prst="rect">
            <a:avLst/>
          </a:prstGeom>
          <a:noFill/>
          <a:ln/>
        </p:spPr>
        <p:txBody>
          <a:bodyPr wrap="square" rtlCol="0" anchor="ctr"/>
          <a:lstStyle/>
          <a:p>
            <a:pPr indent="0" marL="0">
              <a:buNone/>
            </a:pPr>
            <a:r>
              <a:rPr lang="en-US" sz="1400" dirty="0">
                <a:solidFill>
                  <a:srgbClr val="E8E6E1"/>
                </a:solidFill>
                <a:latin typeface="Calibri" pitchFamily="34" charset="0"/>
                <a:ea typeface="Calibri" pitchFamily="34" charset="-122"/>
                <a:cs typeface="Calibri" pitchFamily="34" charset="-120"/>
              </a:rPr>
              <a:t>78 tests automatizados con 100% de cobertura</a:t>
            </a:r>
            <a:endParaRPr lang="en-US" sz="1400" dirty="0"/>
          </a:p>
        </p:txBody>
      </p:sp>
      <p:sp>
        <p:nvSpPr>
          <p:cNvPr id="30" name="Text 19"/>
          <p:cNvSpPr/>
          <p:nvPr/>
        </p:nvSpPr>
        <p:spPr>
          <a:xfrm>
            <a:off x="0" y="6537960"/>
            <a:ext cx="12161520" cy="274320"/>
          </a:xfrm>
          <a:prstGeom prst="rect">
            <a:avLst/>
          </a:prstGeom>
          <a:noFill/>
          <a:ln/>
        </p:spPr>
        <p:txBody>
          <a:bodyPr wrap="square" rtlCol="0" anchor="ctr"/>
          <a:lstStyle/>
          <a:p>
            <a:pPr algn="ctr" indent="0" marL="0">
              <a:buNone/>
            </a:pPr>
            <a:r>
              <a:rPr lang="en-US" sz="900" dirty="0">
                <a:solidFill>
                  <a:srgbClr val="9A9DA6"/>
                </a:solidFill>
                <a:latin typeface="Courier New" pitchFamily="34" charset="0"/>
                <a:ea typeface="Courier New" pitchFamily="34" charset="-122"/>
                <a:cs typeface="Courier New" pitchFamily="34" charset="-120"/>
              </a:rPr>
              <a:t>Mapa Vecinal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E0F12"/>
        </a:solidFill>
      </p:bgPr>
    </p:bg>
    <p:spTree>
      <p:nvGrpSpPr>
        <p:cNvPr id="1" name=""/>
        <p:cNvGrpSpPr/>
        <p:nvPr/>
      </p:nvGrpSpPr>
      <p:grpSpPr>
        <a:xfrm>
          <a:off x="0" y="0"/>
          <a:ext cx="0" cy="0"/>
          <a:chOff x="0" y="0"/>
          <a:chExt cx="0" cy="0"/>
        </a:xfrm>
      </p:grpSpPr>
      <p:sp>
        <p:nvSpPr>
          <p:cNvPr id="2" name="Shape 0"/>
          <p:cNvSpPr/>
          <p:nvPr/>
        </p:nvSpPr>
        <p:spPr>
          <a:xfrm>
            <a:off x="5623560" y="1188720"/>
            <a:ext cx="914400" cy="914400"/>
          </a:xfrm>
          <a:prstGeom prst="ellipse">
            <a:avLst/>
          </a:prstGeom>
          <a:solidFill>
            <a:srgbClr val="1C1F26"/>
          </a:solidFill>
          <a:ln/>
        </p:spPr>
      </p:sp>
      <p:pic>
        <p:nvPicPr>
          <p:cNvPr id="3" name="Image 0" descr="preencoded.png">    </p:cNvPr>
          <p:cNvPicPr>
            <a:picLocks noChangeAspect="1"/>
          </p:cNvPicPr>
          <p:nvPr/>
        </p:nvPicPr>
        <p:blipFill>
          <a:blip r:embed="rId1"/>
          <a:stretch>
            <a:fillRect/>
          </a:stretch>
        </p:blipFill>
        <p:spPr>
          <a:xfrm>
            <a:off x="5861304" y="1426464"/>
            <a:ext cx="438912" cy="438912"/>
          </a:xfrm>
          <a:prstGeom prst="rect">
            <a:avLst/>
          </a:prstGeom>
        </p:spPr>
      </p:pic>
      <p:sp>
        <p:nvSpPr>
          <p:cNvPr id="4" name="Text 1"/>
          <p:cNvSpPr/>
          <p:nvPr/>
        </p:nvSpPr>
        <p:spPr>
          <a:xfrm>
            <a:off x="0" y="2377440"/>
            <a:ext cx="12161520" cy="822960"/>
          </a:xfrm>
          <a:prstGeom prst="rect">
            <a:avLst/>
          </a:prstGeom>
          <a:noFill/>
          <a:ln/>
        </p:spPr>
        <p:txBody>
          <a:bodyPr wrap="square" lIns="0" tIns="0" rIns="0" bIns="0" rtlCol="0" anchor="ctr"/>
          <a:lstStyle/>
          <a:p>
            <a:pPr algn="ctr" indent="0" marL="0">
              <a:buNone/>
            </a:pPr>
            <a:r>
              <a:rPr lang="en-US" sz="4000" b="1" dirty="0">
                <a:solidFill>
                  <a:srgbClr val="E8E6E1"/>
                </a:solidFill>
                <a:latin typeface="Cambria" pitchFamily="34" charset="0"/>
                <a:ea typeface="Cambria" pitchFamily="34" charset="-122"/>
                <a:cs typeface="Cambria" pitchFamily="34" charset="-120"/>
              </a:rPr>
              <a:t>Gracias</a:t>
            </a:r>
            <a:endParaRPr lang="en-US" sz="4000" dirty="0"/>
          </a:p>
        </p:txBody>
      </p:sp>
      <p:sp>
        <p:nvSpPr>
          <p:cNvPr id="5" name="Text 2"/>
          <p:cNvSpPr/>
          <p:nvPr/>
        </p:nvSpPr>
        <p:spPr>
          <a:xfrm>
            <a:off x="0" y="3200400"/>
            <a:ext cx="12161520" cy="365760"/>
          </a:xfrm>
          <a:prstGeom prst="rect">
            <a:avLst/>
          </a:prstGeom>
          <a:noFill/>
          <a:ln/>
        </p:spPr>
        <p:txBody>
          <a:bodyPr wrap="square" rtlCol="0" anchor="ctr"/>
          <a:lstStyle/>
          <a:p>
            <a:pPr algn="ctr" indent="0" marL="0">
              <a:buNone/>
            </a:pPr>
            <a:r>
              <a:rPr lang="en-US" sz="1500" dirty="0">
                <a:solidFill>
                  <a:srgbClr val="9A9DA6"/>
                </a:solidFill>
                <a:latin typeface="Calibri" pitchFamily="34" charset="0"/>
                <a:ea typeface="Calibri" pitchFamily="34" charset="-122"/>
                <a:cs typeface="Calibri" pitchFamily="34" charset="-120"/>
              </a:rPr>
              <a:t>Mapa Vecinal — Blog de Seguridad Vecinal</a:t>
            </a:r>
            <a:endParaRPr lang="en-US" sz="1500" dirty="0"/>
          </a:p>
        </p:txBody>
      </p:sp>
      <p:sp>
        <p:nvSpPr>
          <p:cNvPr id="6" name="Text 3"/>
          <p:cNvSpPr/>
          <p:nvPr/>
        </p:nvSpPr>
        <p:spPr>
          <a:xfrm>
            <a:off x="0" y="3657600"/>
            <a:ext cx="12161520" cy="365760"/>
          </a:xfrm>
          <a:prstGeom prst="rect">
            <a:avLst/>
          </a:prstGeom>
          <a:noFill/>
          <a:ln/>
        </p:spPr>
        <p:txBody>
          <a:bodyPr wrap="square" rtlCol="0" anchor="ctr"/>
          <a:lstStyle/>
          <a:p>
            <a:pPr algn="ctr" indent="0" marL="0">
              <a:buNone/>
            </a:pPr>
            <a:r>
              <a:rPr lang="en-US" sz="1200" dirty="0">
                <a:solidFill>
                  <a:srgbClr val="E8A33D"/>
                </a:solidFill>
                <a:latin typeface="Courier New" pitchFamily="34" charset="0"/>
                <a:ea typeface="Courier New" pitchFamily="34" charset="-122"/>
                <a:cs typeface="Courier New" pitchFamily="34" charset="-120"/>
              </a:rPr>
              <a:t>Leonardo Sebastian Pafundi  ·  CoderHouse — Curso Python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Mapa Vecinal — Blog de Seguridad Vecinal</dc:title>
  <dc:subject>PptxGenJS Presentation</dc:subject>
  <dc:creator>Leonardo Sebastian Pafundi</dc:creator>
  <cp:lastModifiedBy>Leonardo Sebastian Pafundi</cp:lastModifiedBy>
  <cp:revision>1</cp:revision>
  <dcterms:created xsi:type="dcterms:W3CDTF">2026-06-20T02:10:12Z</dcterms:created>
  <dcterms:modified xsi:type="dcterms:W3CDTF">2026-06-20T02:10:12Z</dcterms:modified>
</cp:coreProperties>
</file>